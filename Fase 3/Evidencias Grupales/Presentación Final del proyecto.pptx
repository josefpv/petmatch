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TAN Songbird" charset="1" panose="00000000000000000000"/>
      <p:regular r:id="rId20"/>
    </p:embeddedFont>
    <p:embeddedFont>
      <p:font typeface="Open Sans" charset="1" panose="020B0606030504020204"/>
      <p:regular r:id="rId21"/>
    </p:embeddedFont>
    <p:embeddedFont>
      <p:font typeface="Neue Einstellung Bold" charset="1" panose="00000800000000000000"/>
      <p:regular r:id="rId22"/>
    </p:embeddedFont>
    <p:embeddedFont>
      <p:font typeface="Neue Einstellung"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6.png" Type="http://schemas.openxmlformats.org/officeDocument/2006/relationships/image"/><Relationship Id="rId5"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6.png" Type="http://schemas.openxmlformats.org/officeDocument/2006/relationships/image"/><Relationship Id="rId12" Target="../media/image33.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 Id="rId7" Target="../media/image29.png" Type="http://schemas.openxmlformats.org/officeDocument/2006/relationships/image"/><Relationship Id="rId8" Target="../media/image30.png" Type="http://schemas.openxmlformats.org/officeDocument/2006/relationships/image"/><Relationship Id="rId9" Target="../media/image3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19.png" Type="http://schemas.openxmlformats.org/officeDocument/2006/relationships/image"/><Relationship Id="rId7" Target="../media/image3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5.png" Type="http://schemas.openxmlformats.org/officeDocument/2006/relationships/image"/><Relationship Id="rId4" Target="../media/image8.png" Type="http://schemas.openxmlformats.org/officeDocument/2006/relationships/image"/><Relationship Id="rId5" Target="../media/image38.pn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jpeg" Type="http://schemas.openxmlformats.org/officeDocument/2006/relationships/image"/><Relationship Id="rId3" Target="../media/VAG6tKM29t4.mp4" Type="http://schemas.openxmlformats.org/officeDocument/2006/relationships/video"/><Relationship Id="rId4" Target="../media/VAG6tKM29t4.mp4" Type="http://schemas.microsoft.com/office/2007/relationships/media"/></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5.png" Type="http://schemas.openxmlformats.org/officeDocument/2006/relationships/image"/><Relationship Id="rId5" Target="../media/image26.png" Type="http://schemas.openxmlformats.org/officeDocument/2006/relationships/image"/><Relationship Id="rId6" Target="../media/image40.png" Type="http://schemas.openxmlformats.org/officeDocument/2006/relationships/image"/><Relationship Id="rId7"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2.png" Type="http://schemas.openxmlformats.org/officeDocument/2006/relationships/image"/><Relationship Id="rId8" Target="../media/image7.png" Type="http://schemas.openxmlformats.org/officeDocument/2006/relationships/image"/><Relationship Id="rId9"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ADD5A0"/>
        </a:solidFill>
      </p:bgPr>
    </p:bg>
    <p:spTree>
      <p:nvGrpSpPr>
        <p:cNvPr id="1" name=""/>
        <p:cNvGrpSpPr/>
        <p:nvPr/>
      </p:nvGrpSpPr>
      <p:grpSpPr>
        <a:xfrm>
          <a:off x="0" y="0"/>
          <a:ext cx="0" cy="0"/>
          <a:chOff x="0" y="0"/>
          <a:chExt cx="0" cy="0"/>
        </a:xfrm>
      </p:grpSpPr>
      <p:sp>
        <p:nvSpPr>
          <p:cNvPr name="Freeform 2" id="2"/>
          <p:cNvSpPr/>
          <p:nvPr/>
        </p:nvSpPr>
        <p:spPr>
          <a:xfrm flipH="false" flipV="false" rot="0">
            <a:off x="-10697" y="0"/>
            <a:ext cx="18298697" cy="10287000"/>
          </a:xfrm>
          <a:custGeom>
            <a:avLst/>
            <a:gdLst/>
            <a:ahLst/>
            <a:cxnLst/>
            <a:rect r="r" b="b" t="t" l="l"/>
            <a:pathLst>
              <a:path h="10287000" w="18298697">
                <a:moveTo>
                  <a:pt x="0" y="0"/>
                </a:moveTo>
                <a:lnTo>
                  <a:pt x="18298697" y="0"/>
                </a:lnTo>
                <a:lnTo>
                  <a:pt x="18298697" y="10287000"/>
                </a:lnTo>
                <a:lnTo>
                  <a:pt x="0" y="10287000"/>
                </a:lnTo>
                <a:lnTo>
                  <a:pt x="0" y="0"/>
                </a:lnTo>
                <a:close/>
              </a:path>
            </a:pathLst>
          </a:custGeom>
          <a:blipFill>
            <a:blip r:embed="rId2"/>
            <a:stretch>
              <a:fillRect l="0" t="-34888" r="0" b="-42993"/>
            </a:stretch>
          </a:blipFill>
        </p:spPr>
      </p:sp>
      <p:sp>
        <p:nvSpPr>
          <p:cNvPr name="Freeform 3" id="3"/>
          <p:cNvSpPr/>
          <p:nvPr/>
        </p:nvSpPr>
        <p:spPr>
          <a:xfrm flipH="false" flipV="false" rot="2700000">
            <a:off x="393428" y="-5059042"/>
            <a:ext cx="18259639" cy="18259639"/>
          </a:xfrm>
          <a:custGeom>
            <a:avLst/>
            <a:gdLst/>
            <a:ahLst/>
            <a:cxnLst/>
            <a:rect r="r" b="b" t="t" l="l"/>
            <a:pathLst>
              <a:path h="18259639" w="18259639">
                <a:moveTo>
                  <a:pt x="0" y="0"/>
                </a:moveTo>
                <a:lnTo>
                  <a:pt x="18259638" y="0"/>
                </a:lnTo>
                <a:lnTo>
                  <a:pt x="18259638" y="18259639"/>
                </a:lnTo>
                <a:lnTo>
                  <a:pt x="0" y="182596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47510" y="1637901"/>
            <a:ext cx="6586466" cy="4865752"/>
          </a:xfrm>
          <a:custGeom>
            <a:avLst/>
            <a:gdLst/>
            <a:ahLst/>
            <a:cxnLst/>
            <a:rect r="r" b="b" t="t" l="l"/>
            <a:pathLst>
              <a:path h="4865752" w="6586466">
                <a:moveTo>
                  <a:pt x="0" y="0"/>
                </a:moveTo>
                <a:lnTo>
                  <a:pt x="6586466" y="0"/>
                </a:lnTo>
                <a:lnTo>
                  <a:pt x="6586466" y="4865752"/>
                </a:lnTo>
                <a:lnTo>
                  <a:pt x="0" y="4865752"/>
                </a:lnTo>
                <a:lnTo>
                  <a:pt x="0" y="0"/>
                </a:lnTo>
                <a:close/>
              </a:path>
            </a:pathLst>
          </a:custGeom>
          <a:blipFill>
            <a:blip r:embed="rId5"/>
            <a:stretch>
              <a:fillRect l="0" t="0" r="0" b="0"/>
            </a:stretch>
          </a:blipFill>
        </p:spPr>
      </p:sp>
      <p:sp>
        <p:nvSpPr>
          <p:cNvPr name="Freeform 5" id="5"/>
          <p:cNvSpPr/>
          <p:nvPr/>
        </p:nvSpPr>
        <p:spPr>
          <a:xfrm flipH="false" flipV="false" rot="0">
            <a:off x="122450" y="144309"/>
            <a:ext cx="5971861" cy="4717770"/>
          </a:xfrm>
          <a:custGeom>
            <a:avLst/>
            <a:gdLst/>
            <a:ahLst/>
            <a:cxnLst/>
            <a:rect r="r" b="b" t="t" l="l"/>
            <a:pathLst>
              <a:path h="4717770" w="5971861">
                <a:moveTo>
                  <a:pt x="0" y="0"/>
                </a:moveTo>
                <a:lnTo>
                  <a:pt x="5971861" y="0"/>
                </a:lnTo>
                <a:lnTo>
                  <a:pt x="5971861" y="4717770"/>
                </a:lnTo>
                <a:lnTo>
                  <a:pt x="0" y="4717770"/>
                </a:lnTo>
                <a:lnTo>
                  <a:pt x="0" y="0"/>
                </a:lnTo>
                <a:close/>
              </a:path>
            </a:pathLst>
          </a:custGeom>
          <a:blipFill>
            <a:blip r:embed="rId6"/>
            <a:stretch>
              <a:fillRect l="0" t="0" r="0" b="0"/>
            </a:stretch>
          </a:blipFill>
        </p:spPr>
      </p:sp>
      <p:sp>
        <p:nvSpPr>
          <p:cNvPr name="Freeform 6" id="6"/>
          <p:cNvSpPr/>
          <p:nvPr/>
        </p:nvSpPr>
        <p:spPr>
          <a:xfrm flipH="false" flipV="false" rot="0">
            <a:off x="15804933" y="6933529"/>
            <a:ext cx="2483067" cy="2324771"/>
          </a:xfrm>
          <a:custGeom>
            <a:avLst/>
            <a:gdLst/>
            <a:ahLst/>
            <a:cxnLst/>
            <a:rect r="r" b="b" t="t" l="l"/>
            <a:pathLst>
              <a:path h="2324771" w="2483067">
                <a:moveTo>
                  <a:pt x="0" y="0"/>
                </a:moveTo>
                <a:lnTo>
                  <a:pt x="2483067" y="0"/>
                </a:lnTo>
                <a:lnTo>
                  <a:pt x="2483067" y="2324771"/>
                </a:lnTo>
                <a:lnTo>
                  <a:pt x="0" y="2324771"/>
                </a:lnTo>
                <a:lnTo>
                  <a:pt x="0" y="0"/>
                </a:lnTo>
                <a:close/>
              </a:path>
            </a:pathLst>
          </a:custGeom>
          <a:blipFill>
            <a:blip r:embed="rId7"/>
            <a:stretch>
              <a:fillRect l="0" t="0" r="0" b="0"/>
            </a:stretch>
          </a:blipFill>
        </p:spPr>
      </p:sp>
      <p:sp>
        <p:nvSpPr>
          <p:cNvPr name="Freeform 7" id="7"/>
          <p:cNvSpPr/>
          <p:nvPr/>
        </p:nvSpPr>
        <p:spPr>
          <a:xfrm flipH="false" flipV="false" rot="0">
            <a:off x="6323818" y="3083676"/>
            <a:ext cx="2242766" cy="1477422"/>
          </a:xfrm>
          <a:custGeom>
            <a:avLst/>
            <a:gdLst/>
            <a:ahLst/>
            <a:cxnLst/>
            <a:rect r="r" b="b" t="t" l="l"/>
            <a:pathLst>
              <a:path h="1477422" w="2242766">
                <a:moveTo>
                  <a:pt x="0" y="0"/>
                </a:moveTo>
                <a:lnTo>
                  <a:pt x="2242767" y="0"/>
                </a:lnTo>
                <a:lnTo>
                  <a:pt x="2242767" y="1477423"/>
                </a:lnTo>
                <a:lnTo>
                  <a:pt x="0" y="1477423"/>
                </a:lnTo>
                <a:lnTo>
                  <a:pt x="0" y="0"/>
                </a:lnTo>
                <a:close/>
              </a:path>
            </a:pathLst>
          </a:custGeom>
          <a:blipFill>
            <a:blip r:embed="rId8"/>
            <a:stretch>
              <a:fillRect l="0" t="0" r="0" b="0"/>
            </a:stretch>
          </a:blipFill>
        </p:spPr>
      </p:sp>
      <p:sp>
        <p:nvSpPr>
          <p:cNvPr name="TextBox 8" id="8"/>
          <p:cNvSpPr txBox="true"/>
          <p:nvPr/>
        </p:nvSpPr>
        <p:spPr>
          <a:xfrm rot="0">
            <a:off x="7163737" y="5000625"/>
            <a:ext cx="3178076" cy="1298946"/>
          </a:xfrm>
          <a:prstGeom prst="rect">
            <a:avLst/>
          </a:prstGeom>
        </p:spPr>
        <p:txBody>
          <a:bodyPr anchor="t" rtlCol="false" tIns="0" lIns="0" bIns="0" rIns="0">
            <a:spAutoFit/>
          </a:bodyPr>
          <a:lstStyle/>
          <a:p>
            <a:pPr algn="ctr">
              <a:lnSpc>
                <a:spcPts val="10120"/>
              </a:lnSpc>
            </a:pPr>
            <a:r>
              <a:rPr lang="en-US" sz="7229">
                <a:solidFill>
                  <a:srgbClr val="FFEDD4"/>
                </a:solidFill>
                <a:latin typeface="TAN Songbird"/>
                <a:ea typeface="TAN Songbird"/>
                <a:cs typeface="TAN Songbird"/>
                <a:sym typeface="TAN Songbird"/>
              </a:rPr>
              <a:t>PET</a:t>
            </a:r>
          </a:p>
        </p:txBody>
      </p:sp>
      <p:sp>
        <p:nvSpPr>
          <p:cNvPr name="TextBox 9" id="9"/>
          <p:cNvSpPr txBox="true"/>
          <p:nvPr/>
        </p:nvSpPr>
        <p:spPr>
          <a:xfrm rot="0">
            <a:off x="5896314" y="6156696"/>
            <a:ext cx="5993896" cy="1505792"/>
          </a:xfrm>
          <a:prstGeom prst="rect">
            <a:avLst/>
          </a:prstGeom>
        </p:spPr>
        <p:txBody>
          <a:bodyPr anchor="t" rtlCol="false" tIns="0" lIns="0" bIns="0" rIns="0">
            <a:spAutoFit/>
          </a:bodyPr>
          <a:lstStyle/>
          <a:p>
            <a:pPr algn="ctr" marL="0" indent="0" lvl="0">
              <a:lnSpc>
                <a:spcPts val="10120"/>
              </a:lnSpc>
              <a:spcBef>
                <a:spcPct val="0"/>
              </a:spcBef>
            </a:pPr>
            <a:r>
              <a:rPr lang="en-US" sz="7229">
                <a:solidFill>
                  <a:srgbClr val="B1D357"/>
                </a:solidFill>
                <a:latin typeface="TAN Songbird"/>
                <a:ea typeface="TAN Songbird"/>
                <a:cs typeface="TAN Songbird"/>
                <a:sym typeface="TAN Songbird"/>
              </a:rPr>
              <a:t>MATCH</a:t>
            </a:r>
          </a:p>
        </p:txBody>
      </p:sp>
      <p:sp>
        <p:nvSpPr>
          <p:cNvPr name="TextBox 10" id="10"/>
          <p:cNvSpPr txBox="true"/>
          <p:nvPr/>
        </p:nvSpPr>
        <p:spPr>
          <a:xfrm rot="0">
            <a:off x="610939" y="7541135"/>
            <a:ext cx="17055424" cy="662940"/>
          </a:xfrm>
          <a:prstGeom prst="rect">
            <a:avLst/>
          </a:prstGeom>
        </p:spPr>
        <p:txBody>
          <a:bodyPr anchor="t" rtlCol="false" tIns="0" lIns="0" bIns="0" rIns="0">
            <a:spAutoFit/>
          </a:bodyPr>
          <a:lstStyle/>
          <a:p>
            <a:pPr algn="ctr">
              <a:lnSpc>
                <a:spcPts val="5459"/>
              </a:lnSpc>
            </a:pPr>
            <a:r>
              <a:rPr lang="en-US" sz="3899">
                <a:solidFill>
                  <a:srgbClr val="000000"/>
                </a:solidFill>
                <a:latin typeface="Open Sans"/>
                <a:ea typeface="Open Sans"/>
                <a:cs typeface="Open Sans"/>
                <a:sym typeface="Open Sans"/>
              </a:rPr>
              <a:t>Por: Matías Fontalba -José Peñaloza -Francisca Ramírez </a:t>
            </a:r>
          </a:p>
        </p:txBody>
      </p:sp>
      <p:sp>
        <p:nvSpPr>
          <p:cNvPr name="Freeform 11" id="11"/>
          <p:cNvSpPr/>
          <p:nvPr/>
        </p:nvSpPr>
        <p:spPr>
          <a:xfrm flipH="false" flipV="false" rot="0">
            <a:off x="0" y="6748320"/>
            <a:ext cx="2483067" cy="2324771"/>
          </a:xfrm>
          <a:custGeom>
            <a:avLst/>
            <a:gdLst/>
            <a:ahLst/>
            <a:cxnLst/>
            <a:rect r="r" b="b" t="t" l="l"/>
            <a:pathLst>
              <a:path h="2324771" w="2483067">
                <a:moveTo>
                  <a:pt x="0" y="0"/>
                </a:moveTo>
                <a:lnTo>
                  <a:pt x="2483067" y="0"/>
                </a:lnTo>
                <a:lnTo>
                  <a:pt x="2483067" y="2324771"/>
                </a:lnTo>
                <a:lnTo>
                  <a:pt x="0" y="2324771"/>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8CA4D"/>
        </a:solidFill>
      </p:bgPr>
    </p:bg>
    <p:spTree>
      <p:nvGrpSpPr>
        <p:cNvPr id="1" name=""/>
        <p:cNvGrpSpPr/>
        <p:nvPr/>
      </p:nvGrpSpPr>
      <p:grpSpPr>
        <a:xfrm>
          <a:off x="0" y="0"/>
          <a:ext cx="0" cy="0"/>
          <a:chOff x="0" y="0"/>
          <a:chExt cx="0" cy="0"/>
        </a:xfrm>
      </p:grpSpPr>
      <p:grpSp>
        <p:nvGrpSpPr>
          <p:cNvPr name="Group 2" id="2"/>
          <p:cNvGrpSpPr/>
          <p:nvPr/>
        </p:nvGrpSpPr>
        <p:grpSpPr>
          <a:xfrm rot="0">
            <a:off x="840202" y="2089556"/>
            <a:ext cx="3711817" cy="3194701"/>
            <a:chOff x="0" y="0"/>
            <a:chExt cx="977598" cy="841403"/>
          </a:xfrm>
        </p:grpSpPr>
        <p:sp>
          <p:nvSpPr>
            <p:cNvPr name="Freeform 3" id="3"/>
            <p:cNvSpPr/>
            <p:nvPr/>
          </p:nvSpPr>
          <p:spPr>
            <a:xfrm flipH="false" flipV="false" rot="0">
              <a:off x="0" y="0"/>
              <a:ext cx="977598" cy="841403"/>
            </a:xfrm>
            <a:custGeom>
              <a:avLst/>
              <a:gdLst/>
              <a:ahLst/>
              <a:cxnLst/>
              <a:rect r="r" b="b" t="t" l="l"/>
              <a:pathLst>
                <a:path h="841403" w="977598">
                  <a:moveTo>
                    <a:pt x="187717" y="0"/>
                  </a:moveTo>
                  <a:lnTo>
                    <a:pt x="789880" y="0"/>
                  </a:lnTo>
                  <a:cubicBezTo>
                    <a:pt x="839666" y="0"/>
                    <a:pt x="887413" y="19777"/>
                    <a:pt x="922617" y="54981"/>
                  </a:cubicBezTo>
                  <a:cubicBezTo>
                    <a:pt x="957821" y="90185"/>
                    <a:pt x="977598" y="137932"/>
                    <a:pt x="977598" y="187717"/>
                  </a:cubicBezTo>
                  <a:lnTo>
                    <a:pt x="977598" y="653685"/>
                  </a:lnTo>
                  <a:cubicBezTo>
                    <a:pt x="977598" y="757359"/>
                    <a:pt x="893554" y="841403"/>
                    <a:pt x="789880" y="841403"/>
                  </a:cubicBezTo>
                  <a:lnTo>
                    <a:pt x="187717" y="841403"/>
                  </a:lnTo>
                  <a:cubicBezTo>
                    <a:pt x="84044" y="841403"/>
                    <a:pt x="0" y="757359"/>
                    <a:pt x="0" y="653685"/>
                  </a:cubicBezTo>
                  <a:lnTo>
                    <a:pt x="0" y="187717"/>
                  </a:lnTo>
                  <a:cubicBezTo>
                    <a:pt x="0" y="84044"/>
                    <a:pt x="84044" y="0"/>
                    <a:pt x="187717" y="0"/>
                  </a:cubicBezTo>
                  <a:close/>
                </a:path>
              </a:pathLst>
            </a:custGeom>
            <a:solidFill>
              <a:srgbClr val="FFEDD4"/>
            </a:solidFill>
          </p:spPr>
        </p:sp>
        <p:sp>
          <p:nvSpPr>
            <p:cNvPr name="TextBox 4" id="4"/>
            <p:cNvSpPr txBox="true"/>
            <p:nvPr/>
          </p:nvSpPr>
          <p:spPr>
            <a:xfrm>
              <a:off x="0" y="-38100"/>
              <a:ext cx="977598" cy="87950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557692" y="267987"/>
            <a:ext cx="12741659" cy="1073150"/>
          </a:xfrm>
          <a:prstGeom prst="rect">
            <a:avLst/>
          </a:prstGeom>
        </p:spPr>
        <p:txBody>
          <a:bodyPr anchor="t" rtlCol="false" tIns="0" lIns="0" bIns="0" rIns="0">
            <a:spAutoFit/>
          </a:bodyPr>
          <a:lstStyle/>
          <a:p>
            <a:pPr algn="ctr" marL="0" indent="0" lvl="0">
              <a:lnSpc>
                <a:spcPts val="9250"/>
              </a:lnSpc>
            </a:pPr>
            <a:r>
              <a:rPr lang="en-US" sz="5000">
                <a:solidFill>
                  <a:srgbClr val="EB551F"/>
                </a:solidFill>
                <a:latin typeface="TAN Songbird"/>
                <a:ea typeface="TAN Songbird"/>
                <a:cs typeface="TAN Songbird"/>
                <a:sym typeface="TAN Songbird"/>
              </a:rPr>
              <a:t>Hoja de Ruta</a:t>
            </a:r>
          </a:p>
        </p:txBody>
      </p:sp>
      <p:grpSp>
        <p:nvGrpSpPr>
          <p:cNvPr name="Group 6" id="6"/>
          <p:cNvGrpSpPr/>
          <p:nvPr/>
        </p:nvGrpSpPr>
        <p:grpSpPr>
          <a:xfrm rot="0">
            <a:off x="5041658" y="2006152"/>
            <a:ext cx="3711817" cy="3194701"/>
            <a:chOff x="0" y="0"/>
            <a:chExt cx="977598" cy="841403"/>
          </a:xfrm>
        </p:grpSpPr>
        <p:sp>
          <p:nvSpPr>
            <p:cNvPr name="Freeform 7" id="7"/>
            <p:cNvSpPr/>
            <p:nvPr/>
          </p:nvSpPr>
          <p:spPr>
            <a:xfrm flipH="false" flipV="false" rot="0">
              <a:off x="0" y="0"/>
              <a:ext cx="977598" cy="841403"/>
            </a:xfrm>
            <a:custGeom>
              <a:avLst/>
              <a:gdLst/>
              <a:ahLst/>
              <a:cxnLst/>
              <a:rect r="r" b="b" t="t" l="l"/>
              <a:pathLst>
                <a:path h="841403" w="977598">
                  <a:moveTo>
                    <a:pt x="187717" y="0"/>
                  </a:moveTo>
                  <a:lnTo>
                    <a:pt x="789880" y="0"/>
                  </a:lnTo>
                  <a:cubicBezTo>
                    <a:pt x="839666" y="0"/>
                    <a:pt x="887413" y="19777"/>
                    <a:pt x="922617" y="54981"/>
                  </a:cubicBezTo>
                  <a:cubicBezTo>
                    <a:pt x="957821" y="90185"/>
                    <a:pt x="977598" y="137932"/>
                    <a:pt x="977598" y="187717"/>
                  </a:cubicBezTo>
                  <a:lnTo>
                    <a:pt x="977598" y="653685"/>
                  </a:lnTo>
                  <a:cubicBezTo>
                    <a:pt x="977598" y="757359"/>
                    <a:pt x="893554" y="841403"/>
                    <a:pt x="789880" y="841403"/>
                  </a:cubicBezTo>
                  <a:lnTo>
                    <a:pt x="187717" y="841403"/>
                  </a:lnTo>
                  <a:cubicBezTo>
                    <a:pt x="84044" y="841403"/>
                    <a:pt x="0" y="757359"/>
                    <a:pt x="0" y="653685"/>
                  </a:cubicBezTo>
                  <a:lnTo>
                    <a:pt x="0" y="187717"/>
                  </a:lnTo>
                  <a:cubicBezTo>
                    <a:pt x="0" y="84044"/>
                    <a:pt x="84044" y="0"/>
                    <a:pt x="187717" y="0"/>
                  </a:cubicBezTo>
                  <a:close/>
                </a:path>
              </a:pathLst>
            </a:custGeom>
            <a:solidFill>
              <a:srgbClr val="FFEDD4"/>
            </a:solidFill>
          </p:spPr>
        </p:sp>
        <p:sp>
          <p:nvSpPr>
            <p:cNvPr name="TextBox 8" id="8"/>
            <p:cNvSpPr txBox="true"/>
            <p:nvPr/>
          </p:nvSpPr>
          <p:spPr>
            <a:xfrm>
              <a:off x="0" y="-38100"/>
              <a:ext cx="977598" cy="87950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144000" y="1948799"/>
            <a:ext cx="3711817" cy="3194701"/>
            <a:chOff x="0" y="0"/>
            <a:chExt cx="977598" cy="841403"/>
          </a:xfrm>
        </p:grpSpPr>
        <p:sp>
          <p:nvSpPr>
            <p:cNvPr name="Freeform 10" id="10"/>
            <p:cNvSpPr/>
            <p:nvPr/>
          </p:nvSpPr>
          <p:spPr>
            <a:xfrm flipH="false" flipV="false" rot="0">
              <a:off x="0" y="0"/>
              <a:ext cx="977598" cy="841403"/>
            </a:xfrm>
            <a:custGeom>
              <a:avLst/>
              <a:gdLst/>
              <a:ahLst/>
              <a:cxnLst/>
              <a:rect r="r" b="b" t="t" l="l"/>
              <a:pathLst>
                <a:path h="841403" w="977598">
                  <a:moveTo>
                    <a:pt x="187717" y="0"/>
                  </a:moveTo>
                  <a:lnTo>
                    <a:pt x="789880" y="0"/>
                  </a:lnTo>
                  <a:cubicBezTo>
                    <a:pt x="839666" y="0"/>
                    <a:pt x="887413" y="19777"/>
                    <a:pt x="922617" y="54981"/>
                  </a:cubicBezTo>
                  <a:cubicBezTo>
                    <a:pt x="957821" y="90185"/>
                    <a:pt x="977598" y="137932"/>
                    <a:pt x="977598" y="187717"/>
                  </a:cubicBezTo>
                  <a:lnTo>
                    <a:pt x="977598" y="653685"/>
                  </a:lnTo>
                  <a:cubicBezTo>
                    <a:pt x="977598" y="757359"/>
                    <a:pt x="893554" y="841403"/>
                    <a:pt x="789880" y="841403"/>
                  </a:cubicBezTo>
                  <a:lnTo>
                    <a:pt x="187717" y="841403"/>
                  </a:lnTo>
                  <a:cubicBezTo>
                    <a:pt x="84044" y="841403"/>
                    <a:pt x="0" y="757359"/>
                    <a:pt x="0" y="653685"/>
                  </a:cubicBezTo>
                  <a:lnTo>
                    <a:pt x="0" y="187717"/>
                  </a:lnTo>
                  <a:cubicBezTo>
                    <a:pt x="0" y="84044"/>
                    <a:pt x="84044" y="0"/>
                    <a:pt x="187717" y="0"/>
                  </a:cubicBezTo>
                  <a:close/>
                </a:path>
              </a:pathLst>
            </a:custGeom>
            <a:solidFill>
              <a:srgbClr val="FFEDD4"/>
            </a:solidFill>
          </p:spPr>
        </p:sp>
        <p:sp>
          <p:nvSpPr>
            <p:cNvPr name="TextBox 11" id="11"/>
            <p:cNvSpPr txBox="true"/>
            <p:nvPr/>
          </p:nvSpPr>
          <p:spPr>
            <a:xfrm>
              <a:off x="0" y="-38100"/>
              <a:ext cx="977598" cy="87950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248792" y="2006152"/>
            <a:ext cx="3711817" cy="3194701"/>
            <a:chOff x="0" y="0"/>
            <a:chExt cx="977598" cy="841403"/>
          </a:xfrm>
        </p:grpSpPr>
        <p:sp>
          <p:nvSpPr>
            <p:cNvPr name="Freeform 13" id="13"/>
            <p:cNvSpPr/>
            <p:nvPr/>
          </p:nvSpPr>
          <p:spPr>
            <a:xfrm flipH="false" flipV="false" rot="0">
              <a:off x="0" y="0"/>
              <a:ext cx="977598" cy="841403"/>
            </a:xfrm>
            <a:custGeom>
              <a:avLst/>
              <a:gdLst/>
              <a:ahLst/>
              <a:cxnLst/>
              <a:rect r="r" b="b" t="t" l="l"/>
              <a:pathLst>
                <a:path h="841403" w="977598">
                  <a:moveTo>
                    <a:pt x="187717" y="0"/>
                  </a:moveTo>
                  <a:lnTo>
                    <a:pt x="789880" y="0"/>
                  </a:lnTo>
                  <a:cubicBezTo>
                    <a:pt x="839666" y="0"/>
                    <a:pt x="887413" y="19777"/>
                    <a:pt x="922617" y="54981"/>
                  </a:cubicBezTo>
                  <a:cubicBezTo>
                    <a:pt x="957821" y="90185"/>
                    <a:pt x="977598" y="137932"/>
                    <a:pt x="977598" y="187717"/>
                  </a:cubicBezTo>
                  <a:lnTo>
                    <a:pt x="977598" y="653685"/>
                  </a:lnTo>
                  <a:cubicBezTo>
                    <a:pt x="977598" y="757359"/>
                    <a:pt x="893554" y="841403"/>
                    <a:pt x="789880" y="841403"/>
                  </a:cubicBezTo>
                  <a:lnTo>
                    <a:pt x="187717" y="841403"/>
                  </a:lnTo>
                  <a:cubicBezTo>
                    <a:pt x="84044" y="841403"/>
                    <a:pt x="0" y="757359"/>
                    <a:pt x="0" y="653685"/>
                  </a:cubicBezTo>
                  <a:lnTo>
                    <a:pt x="0" y="187717"/>
                  </a:lnTo>
                  <a:cubicBezTo>
                    <a:pt x="0" y="84044"/>
                    <a:pt x="84044" y="0"/>
                    <a:pt x="187717" y="0"/>
                  </a:cubicBezTo>
                  <a:close/>
                </a:path>
              </a:pathLst>
            </a:custGeom>
            <a:solidFill>
              <a:srgbClr val="FFEDD4"/>
            </a:solidFill>
          </p:spPr>
        </p:sp>
        <p:sp>
          <p:nvSpPr>
            <p:cNvPr name="TextBox 14" id="14"/>
            <p:cNvSpPr txBox="true"/>
            <p:nvPr/>
          </p:nvSpPr>
          <p:spPr>
            <a:xfrm>
              <a:off x="0" y="-304800"/>
              <a:ext cx="977598" cy="1146203"/>
            </a:xfrm>
            <a:prstGeom prst="rect">
              <a:avLst/>
            </a:prstGeom>
          </p:spPr>
          <p:txBody>
            <a:bodyPr anchor="ctr" rtlCol="false" tIns="50800" lIns="50800" bIns="50800" rIns="50800"/>
            <a:lstStyle/>
            <a:p>
              <a:pPr algn="l" marL="0" indent="0" lvl="1">
                <a:lnSpc>
                  <a:spcPts val="7949"/>
                </a:lnSpc>
                <a:spcBef>
                  <a:spcPct val="0"/>
                </a:spcBef>
              </a:pPr>
            </a:p>
          </p:txBody>
        </p:sp>
      </p:grpSp>
      <p:grpSp>
        <p:nvGrpSpPr>
          <p:cNvPr name="Group 15" id="15"/>
          <p:cNvGrpSpPr/>
          <p:nvPr/>
        </p:nvGrpSpPr>
        <p:grpSpPr>
          <a:xfrm rot="0">
            <a:off x="840202" y="5560481"/>
            <a:ext cx="3711817" cy="3194701"/>
            <a:chOff x="0" y="0"/>
            <a:chExt cx="977598" cy="841403"/>
          </a:xfrm>
        </p:grpSpPr>
        <p:sp>
          <p:nvSpPr>
            <p:cNvPr name="Freeform 16" id="16"/>
            <p:cNvSpPr/>
            <p:nvPr/>
          </p:nvSpPr>
          <p:spPr>
            <a:xfrm flipH="false" flipV="false" rot="0">
              <a:off x="0" y="0"/>
              <a:ext cx="977598" cy="841403"/>
            </a:xfrm>
            <a:custGeom>
              <a:avLst/>
              <a:gdLst/>
              <a:ahLst/>
              <a:cxnLst/>
              <a:rect r="r" b="b" t="t" l="l"/>
              <a:pathLst>
                <a:path h="841403" w="977598">
                  <a:moveTo>
                    <a:pt x="187717" y="0"/>
                  </a:moveTo>
                  <a:lnTo>
                    <a:pt x="789880" y="0"/>
                  </a:lnTo>
                  <a:cubicBezTo>
                    <a:pt x="839666" y="0"/>
                    <a:pt x="887413" y="19777"/>
                    <a:pt x="922617" y="54981"/>
                  </a:cubicBezTo>
                  <a:cubicBezTo>
                    <a:pt x="957821" y="90185"/>
                    <a:pt x="977598" y="137932"/>
                    <a:pt x="977598" y="187717"/>
                  </a:cubicBezTo>
                  <a:lnTo>
                    <a:pt x="977598" y="653685"/>
                  </a:lnTo>
                  <a:cubicBezTo>
                    <a:pt x="977598" y="757359"/>
                    <a:pt x="893554" y="841403"/>
                    <a:pt x="789880" y="841403"/>
                  </a:cubicBezTo>
                  <a:lnTo>
                    <a:pt x="187717" y="841403"/>
                  </a:lnTo>
                  <a:cubicBezTo>
                    <a:pt x="84044" y="841403"/>
                    <a:pt x="0" y="757359"/>
                    <a:pt x="0" y="653685"/>
                  </a:cubicBezTo>
                  <a:lnTo>
                    <a:pt x="0" y="187717"/>
                  </a:lnTo>
                  <a:cubicBezTo>
                    <a:pt x="0" y="84044"/>
                    <a:pt x="84044" y="0"/>
                    <a:pt x="187717" y="0"/>
                  </a:cubicBezTo>
                  <a:close/>
                </a:path>
              </a:pathLst>
            </a:custGeom>
            <a:solidFill>
              <a:srgbClr val="FFEDD4"/>
            </a:solidFill>
          </p:spPr>
        </p:sp>
        <p:sp>
          <p:nvSpPr>
            <p:cNvPr name="TextBox 17" id="17"/>
            <p:cNvSpPr txBox="true"/>
            <p:nvPr/>
          </p:nvSpPr>
          <p:spPr>
            <a:xfrm>
              <a:off x="0" y="-38100"/>
              <a:ext cx="977598" cy="879503"/>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5041658" y="5560481"/>
            <a:ext cx="3711817" cy="3194701"/>
            <a:chOff x="0" y="0"/>
            <a:chExt cx="977598" cy="841403"/>
          </a:xfrm>
        </p:grpSpPr>
        <p:sp>
          <p:nvSpPr>
            <p:cNvPr name="Freeform 19" id="19"/>
            <p:cNvSpPr/>
            <p:nvPr/>
          </p:nvSpPr>
          <p:spPr>
            <a:xfrm flipH="false" flipV="false" rot="0">
              <a:off x="0" y="0"/>
              <a:ext cx="977598" cy="841403"/>
            </a:xfrm>
            <a:custGeom>
              <a:avLst/>
              <a:gdLst/>
              <a:ahLst/>
              <a:cxnLst/>
              <a:rect r="r" b="b" t="t" l="l"/>
              <a:pathLst>
                <a:path h="841403" w="977598">
                  <a:moveTo>
                    <a:pt x="187717" y="0"/>
                  </a:moveTo>
                  <a:lnTo>
                    <a:pt x="789880" y="0"/>
                  </a:lnTo>
                  <a:cubicBezTo>
                    <a:pt x="839666" y="0"/>
                    <a:pt x="887413" y="19777"/>
                    <a:pt x="922617" y="54981"/>
                  </a:cubicBezTo>
                  <a:cubicBezTo>
                    <a:pt x="957821" y="90185"/>
                    <a:pt x="977598" y="137932"/>
                    <a:pt x="977598" y="187717"/>
                  </a:cubicBezTo>
                  <a:lnTo>
                    <a:pt x="977598" y="653685"/>
                  </a:lnTo>
                  <a:cubicBezTo>
                    <a:pt x="977598" y="757359"/>
                    <a:pt x="893554" y="841403"/>
                    <a:pt x="789880" y="841403"/>
                  </a:cubicBezTo>
                  <a:lnTo>
                    <a:pt x="187717" y="841403"/>
                  </a:lnTo>
                  <a:cubicBezTo>
                    <a:pt x="84044" y="841403"/>
                    <a:pt x="0" y="757359"/>
                    <a:pt x="0" y="653685"/>
                  </a:cubicBezTo>
                  <a:lnTo>
                    <a:pt x="0" y="187717"/>
                  </a:lnTo>
                  <a:cubicBezTo>
                    <a:pt x="0" y="84044"/>
                    <a:pt x="84044" y="0"/>
                    <a:pt x="187717" y="0"/>
                  </a:cubicBezTo>
                  <a:close/>
                </a:path>
              </a:pathLst>
            </a:custGeom>
            <a:solidFill>
              <a:srgbClr val="FFEDD4"/>
            </a:solidFill>
          </p:spPr>
        </p:sp>
        <p:sp>
          <p:nvSpPr>
            <p:cNvPr name="TextBox 20" id="20"/>
            <p:cNvSpPr txBox="true"/>
            <p:nvPr/>
          </p:nvSpPr>
          <p:spPr>
            <a:xfrm>
              <a:off x="0" y="-38100"/>
              <a:ext cx="977598" cy="879503"/>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13400315" y="5455588"/>
            <a:ext cx="3711817" cy="3194701"/>
            <a:chOff x="0" y="0"/>
            <a:chExt cx="977598" cy="841403"/>
          </a:xfrm>
        </p:grpSpPr>
        <p:sp>
          <p:nvSpPr>
            <p:cNvPr name="Freeform 22" id="22"/>
            <p:cNvSpPr/>
            <p:nvPr/>
          </p:nvSpPr>
          <p:spPr>
            <a:xfrm flipH="false" flipV="false" rot="0">
              <a:off x="0" y="0"/>
              <a:ext cx="977598" cy="841403"/>
            </a:xfrm>
            <a:custGeom>
              <a:avLst/>
              <a:gdLst/>
              <a:ahLst/>
              <a:cxnLst/>
              <a:rect r="r" b="b" t="t" l="l"/>
              <a:pathLst>
                <a:path h="841403" w="977598">
                  <a:moveTo>
                    <a:pt x="187717" y="0"/>
                  </a:moveTo>
                  <a:lnTo>
                    <a:pt x="789880" y="0"/>
                  </a:lnTo>
                  <a:cubicBezTo>
                    <a:pt x="839666" y="0"/>
                    <a:pt x="887413" y="19777"/>
                    <a:pt x="922617" y="54981"/>
                  </a:cubicBezTo>
                  <a:cubicBezTo>
                    <a:pt x="957821" y="90185"/>
                    <a:pt x="977598" y="137932"/>
                    <a:pt x="977598" y="187717"/>
                  </a:cubicBezTo>
                  <a:lnTo>
                    <a:pt x="977598" y="653685"/>
                  </a:lnTo>
                  <a:cubicBezTo>
                    <a:pt x="977598" y="757359"/>
                    <a:pt x="893554" y="841403"/>
                    <a:pt x="789880" y="841403"/>
                  </a:cubicBezTo>
                  <a:lnTo>
                    <a:pt x="187717" y="841403"/>
                  </a:lnTo>
                  <a:cubicBezTo>
                    <a:pt x="84044" y="841403"/>
                    <a:pt x="0" y="757359"/>
                    <a:pt x="0" y="653685"/>
                  </a:cubicBezTo>
                  <a:lnTo>
                    <a:pt x="0" y="187717"/>
                  </a:lnTo>
                  <a:cubicBezTo>
                    <a:pt x="0" y="84044"/>
                    <a:pt x="84044" y="0"/>
                    <a:pt x="187717" y="0"/>
                  </a:cubicBezTo>
                  <a:close/>
                </a:path>
              </a:pathLst>
            </a:custGeom>
            <a:solidFill>
              <a:srgbClr val="FFEDD4"/>
            </a:solidFill>
          </p:spPr>
        </p:sp>
        <p:sp>
          <p:nvSpPr>
            <p:cNvPr name="TextBox 23" id="23"/>
            <p:cNvSpPr txBox="true"/>
            <p:nvPr/>
          </p:nvSpPr>
          <p:spPr>
            <a:xfrm>
              <a:off x="0" y="-38100"/>
              <a:ext cx="977598" cy="879503"/>
            </a:xfrm>
            <a:prstGeom prst="rect">
              <a:avLst/>
            </a:prstGeom>
          </p:spPr>
          <p:txBody>
            <a:bodyPr anchor="ctr" rtlCol="false" tIns="50800" lIns="50800" bIns="50800" rIns="50800"/>
            <a:lstStyle/>
            <a:p>
              <a:pPr algn="ctr">
                <a:lnSpc>
                  <a:spcPts val="2659"/>
                </a:lnSpc>
                <a:spcBef>
                  <a:spcPct val="0"/>
                </a:spcBef>
              </a:pPr>
            </a:p>
          </p:txBody>
        </p:sp>
      </p:grpSp>
      <p:sp>
        <p:nvSpPr>
          <p:cNvPr name="Freeform 24" id="24"/>
          <p:cNvSpPr/>
          <p:nvPr/>
        </p:nvSpPr>
        <p:spPr>
          <a:xfrm flipH="false" flipV="false" rot="0">
            <a:off x="11633113" y="184119"/>
            <a:ext cx="1804177" cy="1689161"/>
          </a:xfrm>
          <a:custGeom>
            <a:avLst/>
            <a:gdLst/>
            <a:ahLst/>
            <a:cxnLst/>
            <a:rect r="r" b="b" t="t" l="l"/>
            <a:pathLst>
              <a:path h="1689161" w="1804177">
                <a:moveTo>
                  <a:pt x="0" y="0"/>
                </a:moveTo>
                <a:lnTo>
                  <a:pt x="1804177" y="0"/>
                </a:lnTo>
                <a:lnTo>
                  <a:pt x="1804177" y="1689162"/>
                </a:lnTo>
                <a:lnTo>
                  <a:pt x="0" y="1689162"/>
                </a:lnTo>
                <a:lnTo>
                  <a:pt x="0" y="0"/>
                </a:lnTo>
                <a:close/>
              </a:path>
            </a:pathLst>
          </a:custGeom>
          <a:blipFill>
            <a:blip r:embed="rId2"/>
            <a:stretch>
              <a:fillRect l="0" t="0" r="0" b="0"/>
            </a:stretch>
          </a:blipFill>
        </p:spPr>
      </p:sp>
      <p:sp>
        <p:nvSpPr>
          <p:cNvPr name="Freeform 25" id="25"/>
          <p:cNvSpPr/>
          <p:nvPr/>
        </p:nvSpPr>
        <p:spPr>
          <a:xfrm flipH="false" flipV="false" rot="0">
            <a:off x="15217416" y="8018606"/>
            <a:ext cx="3070584" cy="2268394"/>
          </a:xfrm>
          <a:custGeom>
            <a:avLst/>
            <a:gdLst/>
            <a:ahLst/>
            <a:cxnLst/>
            <a:rect r="r" b="b" t="t" l="l"/>
            <a:pathLst>
              <a:path h="2268394" w="3070584">
                <a:moveTo>
                  <a:pt x="0" y="0"/>
                </a:moveTo>
                <a:lnTo>
                  <a:pt x="3070584" y="0"/>
                </a:lnTo>
                <a:lnTo>
                  <a:pt x="3070584" y="2268394"/>
                </a:lnTo>
                <a:lnTo>
                  <a:pt x="0" y="2268394"/>
                </a:lnTo>
                <a:lnTo>
                  <a:pt x="0" y="0"/>
                </a:lnTo>
                <a:close/>
              </a:path>
            </a:pathLst>
          </a:custGeom>
          <a:blipFill>
            <a:blip r:embed="rId3"/>
            <a:stretch>
              <a:fillRect l="0" t="0" r="0" b="0"/>
            </a:stretch>
          </a:blipFill>
        </p:spPr>
      </p:sp>
      <p:sp>
        <p:nvSpPr>
          <p:cNvPr name="Freeform 26" id="26"/>
          <p:cNvSpPr/>
          <p:nvPr/>
        </p:nvSpPr>
        <p:spPr>
          <a:xfrm flipH="false" flipV="false" rot="0">
            <a:off x="-1016674" y="7912864"/>
            <a:ext cx="3170393" cy="2690871"/>
          </a:xfrm>
          <a:custGeom>
            <a:avLst/>
            <a:gdLst/>
            <a:ahLst/>
            <a:cxnLst/>
            <a:rect r="r" b="b" t="t" l="l"/>
            <a:pathLst>
              <a:path h="2690871" w="3170393">
                <a:moveTo>
                  <a:pt x="0" y="0"/>
                </a:moveTo>
                <a:lnTo>
                  <a:pt x="3170393" y="0"/>
                </a:lnTo>
                <a:lnTo>
                  <a:pt x="3170393" y="2690872"/>
                </a:lnTo>
                <a:lnTo>
                  <a:pt x="0" y="2690872"/>
                </a:lnTo>
                <a:lnTo>
                  <a:pt x="0" y="0"/>
                </a:lnTo>
                <a:close/>
              </a:path>
            </a:pathLst>
          </a:custGeom>
          <a:blipFill>
            <a:blip r:embed="rId4"/>
            <a:stretch>
              <a:fillRect l="0" t="0" r="0" b="0"/>
            </a:stretch>
          </a:blipFill>
        </p:spPr>
      </p:sp>
      <p:sp>
        <p:nvSpPr>
          <p:cNvPr name="Freeform 27" id="27"/>
          <p:cNvSpPr/>
          <p:nvPr/>
        </p:nvSpPr>
        <p:spPr>
          <a:xfrm flipH="false" flipV="false" rot="0">
            <a:off x="2463930" y="339445"/>
            <a:ext cx="1855682" cy="1475267"/>
          </a:xfrm>
          <a:custGeom>
            <a:avLst/>
            <a:gdLst/>
            <a:ahLst/>
            <a:cxnLst/>
            <a:rect r="r" b="b" t="t" l="l"/>
            <a:pathLst>
              <a:path h="1475267" w="1855682">
                <a:moveTo>
                  <a:pt x="0" y="0"/>
                </a:moveTo>
                <a:lnTo>
                  <a:pt x="1855682" y="0"/>
                </a:lnTo>
                <a:lnTo>
                  <a:pt x="1855682" y="1475268"/>
                </a:lnTo>
                <a:lnTo>
                  <a:pt x="0" y="1475268"/>
                </a:lnTo>
                <a:lnTo>
                  <a:pt x="0" y="0"/>
                </a:lnTo>
                <a:close/>
              </a:path>
            </a:pathLst>
          </a:custGeom>
          <a:blipFill>
            <a:blip r:embed="rId5"/>
            <a:stretch>
              <a:fillRect l="0" t="0" r="0" b="0"/>
            </a:stretch>
          </a:blipFill>
        </p:spPr>
      </p:sp>
      <p:grpSp>
        <p:nvGrpSpPr>
          <p:cNvPr name="Group 28" id="28"/>
          <p:cNvGrpSpPr/>
          <p:nvPr/>
        </p:nvGrpSpPr>
        <p:grpSpPr>
          <a:xfrm rot="0">
            <a:off x="9239250" y="5455588"/>
            <a:ext cx="3711817" cy="3194701"/>
            <a:chOff x="0" y="0"/>
            <a:chExt cx="977598" cy="841403"/>
          </a:xfrm>
        </p:grpSpPr>
        <p:sp>
          <p:nvSpPr>
            <p:cNvPr name="Freeform 29" id="29"/>
            <p:cNvSpPr/>
            <p:nvPr/>
          </p:nvSpPr>
          <p:spPr>
            <a:xfrm flipH="false" flipV="false" rot="0">
              <a:off x="0" y="0"/>
              <a:ext cx="977598" cy="841403"/>
            </a:xfrm>
            <a:custGeom>
              <a:avLst/>
              <a:gdLst/>
              <a:ahLst/>
              <a:cxnLst/>
              <a:rect r="r" b="b" t="t" l="l"/>
              <a:pathLst>
                <a:path h="841403" w="977598">
                  <a:moveTo>
                    <a:pt x="187717" y="0"/>
                  </a:moveTo>
                  <a:lnTo>
                    <a:pt x="789880" y="0"/>
                  </a:lnTo>
                  <a:cubicBezTo>
                    <a:pt x="839666" y="0"/>
                    <a:pt x="887413" y="19777"/>
                    <a:pt x="922617" y="54981"/>
                  </a:cubicBezTo>
                  <a:cubicBezTo>
                    <a:pt x="957821" y="90185"/>
                    <a:pt x="977598" y="137932"/>
                    <a:pt x="977598" y="187717"/>
                  </a:cubicBezTo>
                  <a:lnTo>
                    <a:pt x="977598" y="653685"/>
                  </a:lnTo>
                  <a:cubicBezTo>
                    <a:pt x="977598" y="757359"/>
                    <a:pt x="893554" y="841403"/>
                    <a:pt x="789880" y="841403"/>
                  </a:cubicBezTo>
                  <a:lnTo>
                    <a:pt x="187717" y="841403"/>
                  </a:lnTo>
                  <a:cubicBezTo>
                    <a:pt x="84044" y="841403"/>
                    <a:pt x="0" y="757359"/>
                    <a:pt x="0" y="653685"/>
                  </a:cubicBezTo>
                  <a:lnTo>
                    <a:pt x="0" y="187717"/>
                  </a:lnTo>
                  <a:cubicBezTo>
                    <a:pt x="0" y="84044"/>
                    <a:pt x="84044" y="0"/>
                    <a:pt x="187717" y="0"/>
                  </a:cubicBezTo>
                  <a:close/>
                </a:path>
              </a:pathLst>
            </a:custGeom>
            <a:solidFill>
              <a:srgbClr val="FFEDD4"/>
            </a:solidFill>
          </p:spPr>
        </p:sp>
        <p:sp>
          <p:nvSpPr>
            <p:cNvPr name="TextBox 30" id="30"/>
            <p:cNvSpPr txBox="true"/>
            <p:nvPr/>
          </p:nvSpPr>
          <p:spPr>
            <a:xfrm>
              <a:off x="0" y="-38100"/>
              <a:ext cx="977598" cy="879503"/>
            </a:xfrm>
            <a:prstGeom prst="rect">
              <a:avLst/>
            </a:prstGeom>
          </p:spPr>
          <p:txBody>
            <a:bodyPr anchor="ctr" rtlCol="false" tIns="50800" lIns="50800" bIns="50800" rIns="50800"/>
            <a:lstStyle/>
            <a:p>
              <a:pPr algn="ctr">
                <a:lnSpc>
                  <a:spcPts val="2659"/>
                </a:lnSpc>
                <a:spcBef>
                  <a:spcPct val="0"/>
                </a:spcBef>
              </a:pPr>
            </a:p>
          </p:txBody>
        </p:sp>
      </p:grpSp>
      <p:sp>
        <p:nvSpPr>
          <p:cNvPr name="Freeform 31" id="31"/>
          <p:cNvSpPr/>
          <p:nvPr/>
        </p:nvSpPr>
        <p:spPr>
          <a:xfrm flipH="false" flipV="false" rot="0">
            <a:off x="1924050" y="7917292"/>
            <a:ext cx="7315200" cy="3493008"/>
          </a:xfrm>
          <a:custGeom>
            <a:avLst/>
            <a:gdLst/>
            <a:ahLst/>
            <a:cxnLst/>
            <a:rect r="r" b="b" t="t" l="l"/>
            <a:pathLst>
              <a:path h="3493008" w="7315200">
                <a:moveTo>
                  <a:pt x="0" y="0"/>
                </a:moveTo>
                <a:lnTo>
                  <a:pt x="7315200" y="0"/>
                </a:lnTo>
                <a:lnTo>
                  <a:pt x="7315200" y="3493008"/>
                </a:lnTo>
                <a:lnTo>
                  <a:pt x="0" y="34930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2" id="32"/>
          <p:cNvSpPr txBox="true"/>
          <p:nvPr/>
        </p:nvSpPr>
        <p:spPr>
          <a:xfrm rot="0">
            <a:off x="1028700" y="3010729"/>
            <a:ext cx="3334821" cy="890271"/>
          </a:xfrm>
          <a:prstGeom prst="rect">
            <a:avLst/>
          </a:prstGeom>
        </p:spPr>
        <p:txBody>
          <a:bodyPr anchor="t" rtlCol="false" tIns="0" lIns="0" bIns="0" rIns="0">
            <a:spAutoFit/>
          </a:bodyPr>
          <a:lstStyle/>
          <a:p>
            <a:pPr algn="l">
              <a:lnSpc>
                <a:spcPts val="7749"/>
              </a:lnSpc>
            </a:pPr>
            <a:r>
              <a:rPr lang="en-US" b="true" sz="3874">
                <a:solidFill>
                  <a:srgbClr val="000000"/>
                </a:solidFill>
                <a:latin typeface="Neue Einstellung Bold"/>
                <a:ea typeface="Neue Einstellung Bold"/>
                <a:cs typeface="Neue Einstellung Bold"/>
                <a:sym typeface="Neue Einstellung Bold"/>
              </a:rPr>
              <a:t>Problemática</a:t>
            </a:r>
          </a:p>
        </p:txBody>
      </p:sp>
      <p:sp>
        <p:nvSpPr>
          <p:cNvPr name="TextBox 33" id="33"/>
          <p:cNvSpPr txBox="true"/>
          <p:nvPr/>
        </p:nvSpPr>
        <p:spPr>
          <a:xfrm rot="0">
            <a:off x="4954287" y="2564007"/>
            <a:ext cx="3711817" cy="2002790"/>
          </a:xfrm>
          <a:prstGeom prst="rect">
            <a:avLst/>
          </a:prstGeom>
        </p:spPr>
        <p:txBody>
          <a:bodyPr anchor="t" rtlCol="false" tIns="0" lIns="0" bIns="0" rIns="0">
            <a:spAutoFit/>
          </a:bodyPr>
          <a:lstStyle/>
          <a:p>
            <a:pPr algn="ctr">
              <a:lnSpc>
                <a:spcPts val="5320"/>
              </a:lnSpc>
              <a:spcBef>
                <a:spcPct val="0"/>
              </a:spcBef>
            </a:pPr>
            <a:r>
              <a:rPr lang="en-US" b="true" sz="3800">
                <a:solidFill>
                  <a:srgbClr val="000000"/>
                </a:solidFill>
                <a:latin typeface="Neue Einstellung Bold"/>
                <a:ea typeface="Neue Einstellung Bold"/>
                <a:cs typeface="Neue Einstellung Bold"/>
                <a:sym typeface="Neue Einstellung Bold"/>
              </a:rPr>
              <a:t>Objetivos Generales y Específicos</a:t>
            </a:r>
          </a:p>
        </p:txBody>
      </p:sp>
      <p:sp>
        <p:nvSpPr>
          <p:cNvPr name="TextBox 34" id="34"/>
          <p:cNvSpPr txBox="true"/>
          <p:nvPr/>
        </p:nvSpPr>
        <p:spPr>
          <a:xfrm rot="0">
            <a:off x="9913971" y="2939407"/>
            <a:ext cx="3334821" cy="908686"/>
          </a:xfrm>
          <a:prstGeom prst="rect">
            <a:avLst/>
          </a:prstGeom>
        </p:spPr>
        <p:txBody>
          <a:bodyPr anchor="t" rtlCol="false" tIns="0" lIns="0" bIns="0" rIns="0">
            <a:spAutoFit/>
          </a:bodyPr>
          <a:lstStyle/>
          <a:p>
            <a:pPr algn="l">
              <a:lnSpc>
                <a:spcPts val="7949"/>
              </a:lnSpc>
            </a:pPr>
            <a:r>
              <a:rPr lang="en-US" b="true" sz="3974">
                <a:solidFill>
                  <a:srgbClr val="000000"/>
                </a:solidFill>
                <a:latin typeface="Neue Einstellung Bold"/>
                <a:ea typeface="Neue Einstellung Bold"/>
                <a:cs typeface="Neue Einstellung Bold"/>
                <a:sym typeface="Neue Einstellung Bold"/>
              </a:rPr>
              <a:t>Solución</a:t>
            </a:r>
          </a:p>
        </p:txBody>
      </p:sp>
      <p:sp>
        <p:nvSpPr>
          <p:cNvPr name="TextBox 35" id="35"/>
          <p:cNvSpPr txBox="true"/>
          <p:nvPr/>
        </p:nvSpPr>
        <p:spPr>
          <a:xfrm rot="0">
            <a:off x="5030594" y="6455522"/>
            <a:ext cx="3711817" cy="1328420"/>
          </a:xfrm>
          <a:prstGeom prst="rect">
            <a:avLst/>
          </a:prstGeom>
        </p:spPr>
        <p:txBody>
          <a:bodyPr anchor="t" rtlCol="false" tIns="0" lIns="0" bIns="0" rIns="0">
            <a:spAutoFit/>
          </a:bodyPr>
          <a:lstStyle/>
          <a:p>
            <a:pPr algn="ctr">
              <a:lnSpc>
                <a:spcPts val="5320"/>
              </a:lnSpc>
              <a:spcBef>
                <a:spcPct val="0"/>
              </a:spcBef>
            </a:pPr>
            <a:r>
              <a:rPr lang="en-US" b="true" sz="3800">
                <a:solidFill>
                  <a:srgbClr val="000000"/>
                </a:solidFill>
                <a:latin typeface="Neue Einstellung Bold"/>
                <a:ea typeface="Neue Einstellung Bold"/>
                <a:cs typeface="Neue Einstellung Bold"/>
                <a:sym typeface="Neue Einstellung Bold"/>
              </a:rPr>
              <a:t>Tecnologías Utilizadas</a:t>
            </a:r>
          </a:p>
        </p:txBody>
      </p:sp>
      <p:sp>
        <p:nvSpPr>
          <p:cNvPr name="TextBox 36" id="36"/>
          <p:cNvSpPr txBox="true"/>
          <p:nvPr/>
        </p:nvSpPr>
        <p:spPr>
          <a:xfrm rot="0">
            <a:off x="13400315" y="6023436"/>
            <a:ext cx="3711817" cy="2002790"/>
          </a:xfrm>
          <a:prstGeom prst="rect">
            <a:avLst/>
          </a:prstGeom>
        </p:spPr>
        <p:txBody>
          <a:bodyPr anchor="t" rtlCol="false" tIns="0" lIns="0" bIns="0" rIns="0">
            <a:spAutoFit/>
          </a:bodyPr>
          <a:lstStyle/>
          <a:p>
            <a:pPr algn="ctr">
              <a:lnSpc>
                <a:spcPts val="5320"/>
              </a:lnSpc>
            </a:pPr>
            <a:r>
              <a:rPr lang="en-US" sz="3800" b="true">
                <a:solidFill>
                  <a:srgbClr val="000000"/>
                </a:solidFill>
                <a:latin typeface="Neue Einstellung Bold"/>
                <a:ea typeface="Neue Einstellung Bold"/>
                <a:cs typeface="Neue Einstellung Bold"/>
                <a:sym typeface="Neue Einstellung Bold"/>
              </a:rPr>
              <a:t>Demostración</a:t>
            </a:r>
          </a:p>
          <a:p>
            <a:pPr algn="ctr">
              <a:lnSpc>
                <a:spcPts val="5320"/>
              </a:lnSpc>
              <a:spcBef>
                <a:spcPct val="0"/>
              </a:spcBef>
            </a:pPr>
            <a:r>
              <a:rPr lang="en-US" b="true" sz="3800">
                <a:solidFill>
                  <a:srgbClr val="000000"/>
                </a:solidFill>
                <a:latin typeface="Neue Einstellung Bold"/>
                <a:ea typeface="Neue Einstellung Bold"/>
                <a:cs typeface="Neue Einstellung Bold"/>
                <a:sym typeface="Neue Einstellung Bold"/>
              </a:rPr>
              <a:t>Mejoras Futuras</a:t>
            </a:r>
          </a:p>
        </p:txBody>
      </p:sp>
      <p:sp>
        <p:nvSpPr>
          <p:cNvPr name="TextBox 37" id="37"/>
          <p:cNvSpPr txBox="true"/>
          <p:nvPr/>
        </p:nvSpPr>
        <p:spPr>
          <a:xfrm rot="0">
            <a:off x="13248792" y="2843840"/>
            <a:ext cx="3711817" cy="1328420"/>
          </a:xfrm>
          <a:prstGeom prst="rect">
            <a:avLst/>
          </a:prstGeom>
        </p:spPr>
        <p:txBody>
          <a:bodyPr anchor="t" rtlCol="false" tIns="0" lIns="0" bIns="0" rIns="0">
            <a:spAutoFit/>
          </a:bodyPr>
          <a:lstStyle/>
          <a:p>
            <a:pPr algn="ctr">
              <a:lnSpc>
                <a:spcPts val="5320"/>
              </a:lnSpc>
              <a:spcBef>
                <a:spcPct val="0"/>
              </a:spcBef>
            </a:pPr>
            <a:r>
              <a:rPr lang="en-US" b="true" sz="3800">
                <a:solidFill>
                  <a:srgbClr val="000000"/>
                </a:solidFill>
                <a:latin typeface="Neue Einstellung Bold"/>
                <a:ea typeface="Neue Einstellung Bold"/>
                <a:cs typeface="Neue Einstellung Bold"/>
                <a:sym typeface="Neue Einstellung Bold"/>
              </a:rPr>
              <a:t>Metodología Utilizada</a:t>
            </a:r>
          </a:p>
        </p:txBody>
      </p:sp>
      <p:sp>
        <p:nvSpPr>
          <p:cNvPr name="TextBox 38" id="38"/>
          <p:cNvSpPr txBox="true"/>
          <p:nvPr/>
        </p:nvSpPr>
        <p:spPr>
          <a:xfrm rot="0">
            <a:off x="9220200" y="6455522"/>
            <a:ext cx="3711817" cy="654050"/>
          </a:xfrm>
          <a:prstGeom prst="rect">
            <a:avLst/>
          </a:prstGeom>
        </p:spPr>
        <p:txBody>
          <a:bodyPr anchor="t" rtlCol="false" tIns="0" lIns="0" bIns="0" rIns="0">
            <a:spAutoFit/>
          </a:bodyPr>
          <a:lstStyle/>
          <a:p>
            <a:pPr algn="ctr">
              <a:lnSpc>
                <a:spcPts val="5320"/>
              </a:lnSpc>
              <a:spcBef>
                <a:spcPct val="0"/>
              </a:spcBef>
            </a:pPr>
            <a:r>
              <a:rPr lang="en-US" b="true" sz="3800">
                <a:solidFill>
                  <a:srgbClr val="000000"/>
                </a:solidFill>
                <a:latin typeface="Neue Einstellung Bold"/>
                <a:ea typeface="Neue Einstellung Bold"/>
                <a:cs typeface="Neue Einstellung Bold"/>
                <a:sym typeface="Neue Einstellung Bold"/>
              </a:rPr>
              <a:t>Arquitectura</a:t>
            </a:r>
          </a:p>
        </p:txBody>
      </p:sp>
      <p:sp>
        <p:nvSpPr>
          <p:cNvPr name="TextBox 39" id="39"/>
          <p:cNvSpPr txBox="true"/>
          <p:nvPr/>
        </p:nvSpPr>
        <p:spPr>
          <a:xfrm rot="0">
            <a:off x="852052" y="6455522"/>
            <a:ext cx="3711817" cy="1328420"/>
          </a:xfrm>
          <a:prstGeom prst="rect">
            <a:avLst/>
          </a:prstGeom>
        </p:spPr>
        <p:txBody>
          <a:bodyPr anchor="t" rtlCol="false" tIns="0" lIns="0" bIns="0" rIns="0">
            <a:spAutoFit/>
          </a:bodyPr>
          <a:lstStyle/>
          <a:p>
            <a:pPr algn="ctr">
              <a:lnSpc>
                <a:spcPts val="5320"/>
              </a:lnSpc>
              <a:spcBef>
                <a:spcPct val="0"/>
              </a:spcBef>
            </a:pPr>
            <a:r>
              <a:rPr lang="en-US" b="true" sz="3800">
                <a:solidFill>
                  <a:srgbClr val="000000"/>
                </a:solidFill>
                <a:latin typeface="Neue Einstellung Bold"/>
                <a:ea typeface="Neue Einstellung Bold"/>
                <a:cs typeface="Neue Einstellung Bold"/>
                <a:sym typeface="Neue Einstellung Bold"/>
              </a:rPr>
              <a:t>Cronograma de Trabajo</a:t>
            </a: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743F"/>
        </a:solidFill>
      </p:bgPr>
    </p:bg>
    <p:spTree>
      <p:nvGrpSpPr>
        <p:cNvPr id="1" name=""/>
        <p:cNvGrpSpPr/>
        <p:nvPr/>
      </p:nvGrpSpPr>
      <p:grpSpPr>
        <a:xfrm>
          <a:off x="0" y="0"/>
          <a:ext cx="0" cy="0"/>
          <a:chOff x="0" y="0"/>
          <a:chExt cx="0" cy="0"/>
        </a:xfrm>
      </p:grpSpPr>
      <p:grpSp>
        <p:nvGrpSpPr>
          <p:cNvPr name="Group 2" id="2"/>
          <p:cNvGrpSpPr/>
          <p:nvPr/>
        </p:nvGrpSpPr>
        <p:grpSpPr>
          <a:xfrm rot="0">
            <a:off x="580408" y="1028700"/>
            <a:ext cx="17399213" cy="8454700"/>
            <a:chOff x="0" y="0"/>
            <a:chExt cx="4582509" cy="2226752"/>
          </a:xfrm>
        </p:grpSpPr>
        <p:sp>
          <p:nvSpPr>
            <p:cNvPr name="Freeform 3" id="3"/>
            <p:cNvSpPr/>
            <p:nvPr/>
          </p:nvSpPr>
          <p:spPr>
            <a:xfrm flipH="false" flipV="false" rot="0">
              <a:off x="0" y="0"/>
              <a:ext cx="4582509" cy="2226752"/>
            </a:xfrm>
            <a:custGeom>
              <a:avLst/>
              <a:gdLst/>
              <a:ahLst/>
              <a:cxnLst/>
              <a:rect r="r" b="b" t="t" l="l"/>
              <a:pathLst>
                <a:path h="2226752" w="4582509">
                  <a:moveTo>
                    <a:pt x="40046" y="0"/>
                  </a:moveTo>
                  <a:lnTo>
                    <a:pt x="4542462" y="0"/>
                  </a:lnTo>
                  <a:cubicBezTo>
                    <a:pt x="4564580" y="0"/>
                    <a:pt x="4582509" y="17929"/>
                    <a:pt x="4582509" y="40046"/>
                  </a:cubicBezTo>
                  <a:lnTo>
                    <a:pt x="4582509" y="2186706"/>
                  </a:lnTo>
                  <a:cubicBezTo>
                    <a:pt x="4582509" y="2197327"/>
                    <a:pt x="4578290" y="2207513"/>
                    <a:pt x="4570780" y="2215023"/>
                  </a:cubicBezTo>
                  <a:cubicBezTo>
                    <a:pt x="4563269" y="2222533"/>
                    <a:pt x="4553083" y="2226752"/>
                    <a:pt x="4542462" y="2226752"/>
                  </a:cubicBezTo>
                  <a:lnTo>
                    <a:pt x="40046" y="2226752"/>
                  </a:lnTo>
                  <a:cubicBezTo>
                    <a:pt x="29425" y="2226752"/>
                    <a:pt x="19239" y="2222533"/>
                    <a:pt x="11729" y="2215023"/>
                  </a:cubicBezTo>
                  <a:cubicBezTo>
                    <a:pt x="4219" y="2207513"/>
                    <a:pt x="0" y="2197327"/>
                    <a:pt x="0" y="2186706"/>
                  </a:cubicBezTo>
                  <a:lnTo>
                    <a:pt x="0" y="40046"/>
                  </a:lnTo>
                  <a:cubicBezTo>
                    <a:pt x="0" y="29425"/>
                    <a:pt x="4219" y="19239"/>
                    <a:pt x="11729" y="11729"/>
                  </a:cubicBezTo>
                  <a:cubicBezTo>
                    <a:pt x="19239" y="4219"/>
                    <a:pt x="29425" y="0"/>
                    <a:pt x="40046" y="0"/>
                  </a:cubicBezTo>
                  <a:close/>
                </a:path>
              </a:pathLst>
            </a:custGeom>
            <a:solidFill>
              <a:srgbClr val="FFEDD4"/>
            </a:solidFill>
          </p:spPr>
        </p:sp>
        <p:sp>
          <p:nvSpPr>
            <p:cNvPr name="TextBox 4" id="4"/>
            <p:cNvSpPr txBox="true"/>
            <p:nvPr/>
          </p:nvSpPr>
          <p:spPr>
            <a:xfrm>
              <a:off x="0" y="-38100"/>
              <a:ext cx="4582509" cy="226485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732576" y="8129624"/>
            <a:ext cx="7315200" cy="1542842"/>
          </a:xfrm>
          <a:custGeom>
            <a:avLst/>
            <a:gdLst/>
            <a:ahLst/>
            <a:cxnLst/>
            <a:rect r="r" b="b" t="t" l="l"/>
            <a:pathLst>
              <a:path h="1542842" w="7315200">
                <a:moveTo>
                  <a:pt x="0" y="0"/>
                </a:moveTo>
                <a:lnTo>
                  <a:pt x="7315200" y="0"/>
                </a:lnTo>
                <a:lnTo>
                  <a:pt x="7315200" y="1542842"/>
                </a:lnTo>
                <a:lnTo>
                  <a:pt x="0" y="15428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80408" y="4786245"/>
            <a:ext cx="4689231" cy="4114800"/>
          </a:xfrm>
          <a:custGeom>
            <a:avLst/>
            <a:gdLst/>
            <a:ahLst/>
            <a:cxnLst/>
            <a:rect r="r" b="b" t="t" l="l"/>
            <a:pathLst>
              <a:path h="4114800" w="4689231">
                <a:moveTo>
                  <a:pt x="0" y="0"/>
                </a:moveTo>
                <a:lnTo>
                  <a:pt x="4689231" y="0"/>
                </a:lnTo>
                <a:lnTo>
                  <a:pt x="4689231" y="4114800"/>
                </a:lnTo>
                <a:lnTo>
                  <a:pt x="0" y="4114800"/>
                </a:lnTo>
                <a:lnTo>
                  <a:pt x="0" y="0"/>
                </a:lnTo>
                <a:close/>
              </a:path>
            </a:pathLst>
          </a:custGeom>
          <a:blipFill>
            <a:blip r:embed="rId4"/>
            <a:stretch>
              <a:fillRect l="0" t="0" r="0" b="0"/>
            </a:stretch>
          </a:blipFill>
        </p:spPr>
      </p:sp>
      <p:sp>
        <p:nvSpPr>
          <p:cNvPr name="TextBox 7" id="7"/>
          <p:cNvSpPr txBox="true"/>
          <p:nvPr/>
        </p:nvSpPr>
        <p:spPr>
          <a:xfrm rot="0">
            <a:off x="-1346167" y="1214295"/>
            <a:ext cx="12741659" cy="1077875"/>
          </a:xfrm>
          <a:prstGeom prst="rect">
            <a:avLst/>
          </a:prstGeom>
        </p:spPr>
        <p:txBody>
          <a:bodyPr anchor="t" rtlCol="false" tIns="0" lIns="0" bIns="0" rIns="0">
            <a:spAutoFit/>
          </a:bodyPr>
          <a:lstStyle/>
          <a:p>
            <a:pPr algn="ctr" marL="0" indent="0" lvl="0">
              <a:lnSpc>
                <a:spcPts val="9357"/>
              </a:lnSpc>
            </a:pPr>
            <a:r>
              <a:rPr lang="en-US" sz="5058">
                <a:solidFill>
                  <a:srgbClr val="88C440"/>
                </a:solidFill>
                <a:latin typeface="TAN Songbird"/>
                <a:ea typeface="TAN Songbird"/>
                <a:cs typeface="TAN Songbird"/>
                <a:sym typeface="TAN Songbird"/>
              </a:rPr>
              <a:t>Problematica</a:t>
            </a:r>
          </a:p>
        </p:txBody>
      </p:sp>
      <p:sp>
        <p:nvSpPr>
          <p:cNvPr name="TextBox 8" id="8"/>
          <p:cNvSpPr txBox="true"/>
          <p:nvPr/>
        </p:nvSpPr>
        <p:spPr>
          <a:xfrm rot="0">
            <a:off x="6891003" y="3084001"/>
            <a:ext cx="11396997" cy="6174299"/>
          </a:xfrm>
          <a:prstGeom prst="rect">
            <a:avLst/>
          </a:prstGeom>
        </p:spPr>
        <p:txBody>
          <a:bodyPr anchor="t" rtlCol="false" tIns="0" lIns="0" bIns="0" rIns="0">
            <a:spAutoFit/>
          </a:bodyPr>
          <a:lstStyle/>
          <a:p>
            <a:pPr algn="l">
              <a:lnSpc>
                <a:spcPts val="5400"/>
              </a:lnSpc>
            </a:pPr>
            <a:r>
              <a:rPr lang="en-US" sz="4576">
                <a:solidFill>
                  <a:srgbClr val="040303"/>
                </a:solidFill>
                <a:latin typeface="Neue Einstellung"/>
                <a:ea typeface="Neue Einstellung"/>
                <a:cs typeface="Neue Einstellung"/>
                <a:sym typeface="Neue Einstellung"/>
              </a:rPr>
              <a:t>Los dueños de mascotas enfrentan dificultades para dedicar el tiempo necesario al paseo de sus mascotas.</a:t>
            </a:r>
          </a:p>
          <a:p>
            <a:pPr algn="l">
              <a:lnSpc>
                <a:spcPts val="5400"/>
              </a:lnSpc>
            </a:pPr>
            <a:r>
              <a:rPr lang="en-US" sz="4576">
                <a:solidFill>
                  <a:srgbClr val="040303"/>
                </a:solidFill>
                <a:latin typeface="Neue Einstellung"/>
                <a:ea typeface="Neue Einstellung"/>
                <a:cs typeface="Neue Einstellung"/>
                <a:sym typeface="Neue Einstellung"/>
              </a:rPr>
              <a:t> A esto se suma la falta de confianza y seguridad al delegar esta tarea en personas desconocidas, debido a la ausencia de referencias y mecanismos de validación que aseguren un servicio confiable.</a:t>
            </a:r>
          </a:p>
        </p:txBody>
      </p:sp>
      <p:sp>
        <p:nvSpPr>
          <p:cNvPr name="Freeform 9" id="9"/>
          <p:cNvSpPr/>
          <p:nvPr/>
        </p:nvSpPr>
        <p:spPr>
          <a:xfrm flipH="false" flipV="false" rot="0">
            <a:off x="14929807" y="0"/>
            <a:ext cx="3358193" cy="2680449"/>
          </a:xfrm>
          <a:custGeom>
            <a:avLst/>
            <a:gdLst/>
            <a:ahLst/>
            <a:cxnLst/>
            <a:rect r="r" b="b" t="t" l="l"/>
            <a:pathLst>
              <a:path h="2680449" w="3358193">
                <a:moveTo>
                  <a:pt x="0" y="0"/>
                </a:moveTo>
                <a:lnTo>
                  <a:pt x="3358193" y="0"/>
                </a:lnTo>
                <a:lnTo>
                  <a:pt x="3358193" y="2680449"/>
                </a:lnTo>
                <a:lnTo>
                  <a:pt x="0" y="26804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transition spd="fast">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A8CA4D"/>
        </a:solidFill>
      </p:bgPr>
    </p:bg>
    <p:spTree>
      <p:nvGrpSpPr>
        <p:cNvPr id="1" name=""/>
        <p:cNvGrpSpPr/>
        <p:nvPr/>
      </p:nvGrpSpPr>
      <p:grpSpPr>
        <a:xfrm>
          <a:off x="0" y="0"/>
          <a:ext cx="0" cy="0"/>
          <a:chOff x="0" y="0"/>
          <a:chExt cx="0" cy="0"/>
        </a:xfrm>
      </p:grpSpPr>
      <p:grpSp>
        <p:nvGrpSpPr>
          <p:cNvPr name="Group 2" id="2"/>
          <p:cNvGrpSpPr/>
          <p:nvPr/>
        </p:nvGrpSpPr>
        <p:grpSpPr>
          <a:xfrm rot="0">
            <a:off x="510969" y="1838167"/>
            <a:ext cx="14272205" cy="7811331"/>
            <a:chOff x="0" y="0"/>
            <a:chExt cx="3758935" cy="2057305"/>
          </a:xfrm>
        </p:grpSpPr>
        <p:sp>
          <p:nvSpPr>
            <p:cNvPr name="Freeform 3" id="3"/>
            <p:cNvSpPr/>
            <p:nvPr/>
          </p:nvSpPr>
          <p:spPr>
            <a:xfrm flipH="false" flipV="false" rot="0">
              <a:off x="0" y="0"/>
              <a:ext cx="3758935" cy="2057305"/>
            </a:xfrm>
            <a:custGeom>
              <a:avLst/>
              <a:gdLst/>
              <a:ahLst/>
              <a:cxnLst/>
              <a:rect r="r" b="b" t="t" l="l"/>
              <a:pathLst>
                <a:path h="2057305" w="3758935">
                  <a:moveTo>
                    <a:pt x="48820" y="0"/>
                  </a:moveTo>
                  <a:lnTo>
                    <a:pt x="3710114" y="0"/>
                  </a:lnTo>
                  <a:cubicBezTo>
                    <a:pt x="3737077" y="0"/>
                    <a:pt x="3758935" y="21858"/>
                    <a:pt x="3758935" y="48820"/>
                  </a:cubicBezTo>
                  <a:lnTo>
                    <a:pt x="3758935" y="2008485"/>
                  </a:lnTo>
                  <a:cubicBezTo>
                    <a:pt x="3758935" y="2035448"/>
                    <a:pt x="3737077" y="2057305"/>
                    <a:pt x="3710114" y="2057305"/>
                  </a:cubicBezTo>
                  <a:lnTo>
                    <a:pt x="48820" y="2057305"/>
                  </a:lnTo>
                  <a:cubicBezTo>
                    <a:pt x="21858" y="2057305"/>
                    <a:pt x="0" y="2035448"/>
                    <a:pt x="0" y="2008485"/>
                  </a:cubicBezTo>
                  <a:lnTo>
                    <a:pt x="0" y="48820"/>
                  </a:lnTo>
                  <a:cubicBezTo>
                    <a:pt x="0" y="21858"/>
                    <a:pt x="21858" y="0"/>
                    <a:pt x="48820" y="0"/>
                  </a:cubicBezTo>
                  <a:close/>
                </a:path>
              </a:pathLst>
            </a:custGeom>
            <a:solidFill>
              <a:srgbClr val="FFEDD4"/>
            </a:solidFill>
          </p:spPr>
        </p:sp>
        <p:sp>
          <p:nvSpPr>
            <p:cNvPr name="TextBox 4" id="4"/>
            <p:cNvSpPr txBox="true"/>
            <p:nvPr/>
          </p:nvSpPr>
          <p:spPr>
            <a:xfrm>
              <a:off x="0" y="-38100"/>
              <a:ext cx="3758935" cy="2095405"/>
            </a:xfrm>
            <a:prstGeom prst="rect">
              <a:avLst/>
            </a:prstGeom>
          </p:spPr>
          <p:txBody>
            <a:bodyPr anchor="ctr" rtlCol="false" tIns="50800" lIns="50800" bIns="50800" rIns="50800"/>
            <a:lstStyle/>
            <a:p>
              <a:pPr algn="ctr">
                <a:lnSpc>
                  <a:spcPts val="2659"/>
                </a:lnSpc>
                <a:spcBef>
                  <a:spcPct val="0"/>
                </a:spcBef>
              </a:pPr>
              <a:r>
                <a:rPr lang="en-US" sz="1899">
                  <a:solidFill>
                    <a:srgbClr val="FFEDD4"/>
                  </a:solidFill>
                  <a:latin typeface="Open Sans"/>
                  <a:ea typeface="Open Sans"/>
                  <a:cs typeface="Open Sans"/>
                  <a:sym typeface="Open Sans"/>
                </a:rPr>
                <a:t>Desarrollar una solución que conecte a dueños de mascotas con paseadores certificados, garantizando un servicio seguro, confiable y accesible.</a:t>
              </a:r>
            </a:p>
          </p:txBody>
        </p:sp>
      </p:grpSp>
      <p:sp>
        <p:nvSpPr>
          <p:cNvPr name="TextBox 5" id="5"/>
          <p:cNvSpPr txBox="true"/>
          <p:nvPr/>
        </p:nvSpPr>
        <p:spPr>
          <a:xfrm rot="0">
            <a:off x="0" y="760292"/>
            <a:ext cx="12741659" cy="1077875"/>
          </a:xfrm>
          <a:prstGeom prst="rect">
            <a:avLst/>
          </a:prstGeom>
        </p:spPr>
        <p:txBody>
          <a:bodyPr anchor="t" rtlCol="false" tIns="0" lIns="0" bIns="0" rIns="0">
            <a:spAutoFit/>
          </a:bodyPr>
          <a:lstStyle/>
          <a:p>
            <a:pPr algn="ctr" marL="0" indent="0" lvl="0">
              <a:lnSpc>
                <a:spcPts val="9357"/>
              </a:lnSpc>
            </a:pPr>
            <a:r>
              <a:rPr lang="en-US" sz="5058">
                <a:solidFill>
                  <a:srgbClr val="EB551F"/>
                </a:solidFill>
                <a:latin typeface="TAN Songbird"/>
                <a:ea typeface="TAN Songbird"/>
                <a:cs typeface="TAN Songbird"/>
                <a:sym typeface="TAN Songbird"/>
              </a:rPr>
              <a:t>Objetivos Generales</a:t>
            </a:r>
          </a:p>
        </p:txBody>
      </p:sp>
      <p:sp>
        <p:nvSpPr>
          <p:cNvPr name="Freeform 6" id="6"/>
          <p:cNvSpPr/>
          <p:nvPr/>
        </p:nvSpPr>
        <p:spPr>
          <a:xfrm flipH="false" flipV="false" rot="0">
            <a:off x="10798213" y="2242732"/>
            <a:ext cx="7489787" cy="9073531"/>
          </a:xfrm>
          <a:custGeom>
            <a:avLst/>
            <a:gdLst/>
            <a:ahLst/>
            <a:cxnLst/>
            <a:rect r="r" b="b" t="t" l="l"/>
            <a:pathLst>
              <a:path h="9073531" w="7489787">
                <a:moveTo>
                  <a:pt x="0" y="0"/>
                </a:moveTo>
                <a:lnTo>
                  <a:pt x="7489787" y="0"/>
                </a:lnTo>
                <a:lnTo>
                  <a:pt x="7489787" y="9073531"/>
                </a:lnTo>
                <a:lnTo>
                  <a:pt x="0" y="90735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680713">
            <a:off x="12400675" y="501093"/>
            <a:ext cx="2252206" cy="1767982"/>
          </a:xfrm>
          <a:custGeom>
            <a:avLst/>
            <a:gdLst/>
            <a:ahLst/>
            <a:cxnLst/>
            <a:rect r="r" b="b" t="t" l="l"/>
            <a:pathLst>
              <a:path h="1767982" w="2252206">
                <a:moveTo>
                  <a:pt x="0" y="0"/>
                </a:moveTo>
                <a:lnTo>
                  <a:pt x="2252206" y="0"/>
                </a:lnTo>
                <a:lnTo>
                  <a:pt x="2252206" y="1767982"/>
                </a:lnTo>
                <a:lnTo>
                  <a:pt x="0" y="1767982"/>
                </a:lnTo>
                <a:lnTo>
                  <a:pt x="0" y="0"/>
                </a:lnTo>
                <a:close/>
              </a:path>
            </a:pathLst>
          </a:custGeom>
          <a:blipFill>
            <a:blip r:embed="rId4"/>
            <a:stretch>
              <a:fillRect l="0" t="0" r="0" b="0"/>
            </a:stretch>
          </a:blipFill>
        </p:spPr>
      </p:sp>
      <p:sp>
        <p:nvSpPr>
          <p:cNvPr name="TextBox 8" id="8"/>
          <p:cNvSpPr txBox="true"/>
          <p:nvPr/>
        </p:nvSpPr>
        <p:spPr>
          <a:xfrm rot="0">
            <a:off x="1447171" y="2918190"/>
            <a:ext cx="10328920" cy="3861308"/>
          </a:xfrm>
          <a:prstGeom prst="rect">
            <a:avLst/>
          </a:prstGeom>
        </p:spPr>
        <p:txBody>
          <a:bodyPr anchor="t" rtlCol="false" tIns="0" lIns="0" bIns="0" rIns="0">
            <a:spAutoFit/>
          </a:bodyPr>
          <a:lstStyle/>
          <a:p>
            <a:pPr algn="l" marL="0" indent="0" lvl="0">
              <a:lnSpc>
                <a:spcPts val="6135"/>
              </a:lnSpc>
              <a:spcBef>
                <a:spcPct val="0"/>
              </a:spcBef>
            </a:pPr>
            <a:r>
              <a:rPr lang="en-US" sz="5199">
                <a:solidFill>
                  <a:srgbClr val="000000"/>
                </a:solidFill>
                <a:latin typeface="Neue Einstellung"/>
                <a:ea typeface="Neue Einstellung"/>
                <a:cs typeface="Neue Einstellung"/>
                <a:sym typeface="Neue Einstellung"/>
              </a:rPr>
              <a:t>Desarrollar una solución que conecte a dueños de mascotas con paseadores validados, garantizando un servicio seguro y  confiable</a:t>
            </a:r>
          </a:p>
        </p:txBody>
      </p:sp>
      <p:sp>
        <p:nvSpPr>
          <p:cNvPr name="Freeform 9" id="9"/>
          <p:cNvSpPr/>
          <p:nvPr/>
        </p:nvSpPr>
        <p:spPr>
          <a:xfrm flipH="false" flipV="false" rot="-587115">
            <a:off x="-93031" y="6997345"/>
            <a:ext cx="2838079" cy="3206869"/>
          </a:xfrm>
          <a:custGeom>
            <a:avLst/>
            <a:gdLst/>
            <a:ahLst/>
            <a:cxnLst/>
            <a:rect r="r" b="b" t="t" l="l"/>
            <a:pathLst>
              <a:path h="3206869" w="2838079">
                <a:moveTo>
                  <a:pt x="0" y="0"/>
                </a:moveTo>
                <a:lnTo>
                  <a:pt x="2838079" y="0"/>
                </a:lnTo>
                <a:lnTo>
                  <a:pt x="2838079" y="3206868"/>
                </a:lnTo>
                <a:lnTo>
                  <a:pt x="0" y="3206868"/>
                </a:lnTo>
                <a:lnTo>
                  <a:pt x="0" y="0"/>
                </a:lnTo>
                <a:close/>
              </a:path>
            </a:pathLst>
          </a:custGeom>
          <a:blipFill>
            <a:blip r:embed="rId5"/>
            <a:stretch>
              <a:fillRect l="0" t="0" r="0" b="0"/>
            </a:stretch>
          </a:blipFill>
        </p:spPr>
      </p:sp>
    </p:spTree>
  </p:cSld>
  <p:clrMapOvr>
    <a:masterClrMapping/>
  </p:clrMapOvr>
  <p:transition spd="fast">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743F"/>
        </a:solidFill>
      </p:bgPr>
    </p:bg>
    <p:spTree>
      <p:nvGrpSpPr>
        <p:cNvPr id="1" name=""/>
        <p:cNvGrpSpPr/>
        <p:nvPr/>
      </p:nvGrpSpPr>
      <p:grpSpPr>
        <a:xfrm>
          <a:off x="0" y="0"/>
          <a:ext cx="0" cy="0"/>
          <a:chOff x="0" y="0"/>
          <a:chExt cx="0" cy="0"/>
        </a:xfrm>
      </p:grpSpPr>
      <p:grpSp>
        <p:nvGrpSpPr>
          <p:cNvPr name="Group 2" id="2"/>
          <p:cNvGrpSpPr/>
          <p:nvPr/>
        </p:nvGrpSpPr>
        <p:grpSpPr>
          <a:xfrm rot="0">
            <a:off x="1028700" y="1653824"/>
            <a:ext cx="16748331" cy="8229600"/>
            <a:chOff x="0" y="0"/>
            <a:chExt cx="4411083" cy="2167467"/>
          </a:xfrm>
        </p:grpSpPr>
        <p:sp>
          <p:nvSpPr>
            <p:cNvPr name="Freeform 3" id="3"/>
            <p:cNvSpPr/>
            <p:nvPr/>
          </p:nvSpPr>
          <p:spPr>
            <a:xfrm flipH="false" flipV="false" rot="0">
              <a:off x="0" y="0"/>
              <a:ext cx="4411083" cy="2167467"/>
            </a:xfrm>
            <a:custGeom>
              <a:avLst/>
              <a:gdLst/>
              <a:ahLst/>
              <a:cxnLst/>
              <a:rect r="r" b="b" t="t" l="l"/>
              <a:pathLst>
                <a:path h="2167467" w="4411083">
                  <a:moveTo>
                    <a:pt x="41603" y="0"/>
                  </a:moveTo>
                  <a:lnTo>
                    <a:pt x="4369481" y="0"/>
                  </a:lnTo>
                  <a:cubicBezTo>
                    <a:pt x="4380514" y="0"/>
                    <a:pt x="4391096" y="4383"/>
                    <a:pt x="4398898" y="12185"/>
                  </a:cubicBezTo>
                  <a:cubicBezTo>
                    <a:pt x="4406700" y="19987"/>
                    <a:pt x="4411083" y="30569"/>
                    <a:pt x="4411083" y="41603"/>
                  </a:cubicBezTo>
                  <a:lnTo>
                    <a:pt x="4411083" y="2125864"/>
                  </a:lnTo>
                  <a:cubicBezTo>
                    <a:pt x="4411083" y="2148841"/>
                    <a:pt x="4392457" y="2167467"/>
                    <a:pt x="4369481" y="2167467"/>
                  </a:cubicBezTo>
                  <a:lnTo>
                    <a:pt x="41603" y="2167467"/>
                  </a:lnTo>
                  <a:cubicBezTo>
                    <a:pt x="30569" y="2167467"/>
                    <a:pt x="19987" y="2163084"/>
                    <a:pt x="12185" y="2155282"/>
                  </a:cubicBezTo>
                  <a:cubicBezTo>
                    <a:pt x="4383" y="2147480"/>
                    <a:pt x="0" y="2136898"/>
                    <a:pt x="0" y="2125864"/>
                  </a:cubicBezTo>
                  <a:lnTo>
                    <a:pt x="0" y="41603"/>
                  </a:lnTo>
                  <a:cubicBezTo>
                    <a:pt x="0" y="30569"/>
                    <a:pt x="4383" y="19987"/>
                    <a:pt x="12185" y="12185"/>
                  </a:cubicBezTo>
                  <a:cubicBezTo>
                    <a:pt x="19987" y="4383"/>
                    <a:pt x="30569" y="0"/>
                    <a:pt x="41603" y="0"/>
                  </a:cubicBezTo>
                  <a:close/>
                </a:path>
              </a:pathLst>
            </a:custGeom>
            <a:solidFill>
              <a:srgbClr val="FFEDD4"/>
            </a:solidFill>
          </p:spPr>
        </p:sp>
        <p:sp>
          <p:nvSpPr>
            <p:cNvPr name="TextBox 4" id="4"/>
            <p:cNvSpPr txBox="true"/>
            <p:nvPr/>
          </p:nvSpPr>
          <p:spPr>
            <a:xfrm>
              <a:off x="0" y="-38100"/>
              <a:ext cx="4411083"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117050" y="6430275"/>
            <a:ext cx="6284500" cy="5656050"/>
          </a:xfrm>
          <a:custGeom>
            <a:avLst/>
            <a:gdLst/>
            <a:ahLst/>
            <a:cxnLst/>
            <a:rect r="r" b="b" t="t" l="l"/>
            <a:pathLst>
              <a:path h="5656050" w="6284500">
                <a:moveTo>
                  <a:pt x="0" y="0"/>
                </a:moveTo>
                <a:lnTo>
                  <a:pt x="6284500" y="0"/>
                </a:lnTo>
                <a:lnTo>
                  <a:pt x="6284500" y="5656050"/>
                </a:lnTo>
                <a:lnTo>
                  <a:pt x="0" y="5656050"/>
                </a:lnTo>
                <a:lnTo>
                  <a:pt x="0" y="0"/>
                </a:lnTo>
                <a:close/>
              </a:path>
            </a:pathLst>
          </a:custGeom>
          <a:blipFill>
            <a:blip r:embed="rId2"/>
            <a:stretch>
              <a:fillRect l="0" t="0" r="0" b="0"/>
            </a:stretch>
          </a:blipFill>
        </p:spPr>
      </p:sp>
      <p:sp>
        <p:nvSpPr>
          <p:cNvPr name="TextBox 6" id="6"/>
          <p:cNvSpPr txBox="true"/>
          <p:nvPr/>
        </p:nvSpPr>
        <p:spPr>
          <a:xfrm rot="0">
            <a:off x="604561" y="580674"/>
            <a:ext cx="13065981" cy="1073150"/>
          </a:xfrm>
          <a:prstGeom prst="rect">
            <a:avLst/>
          </a:prstGeom>
        </p:spPr>
        <p:txBody>
          <a:bodyPr anchor="t" rtlCol="false" tIns="0" lIns="0" bIns="0" rIns="0">
            <a:spAutoFit/>
          </a:bodyPr>
          <a:lstStyle/>
          <a:p>
            <a:pPr algn="ctr" marL="0" indent="0" lvl="0">
              <a:lnSpc>
                <a:spcPts val="9250"/>
              </a:lnSpc>
              <a:spcBef>
                <a:spcPct val="0"/>
              </a:spcBef>
            </a:pPr>
            <a:r>
              <a:rPr lang="en-US" sz="5000">
                <a:solidFill>
                  <a:srgbClr val="80AE41"/>
                </a:solidFill>
                <a:latin typeface="TAN Songbird"/>
                <a:ea typeface="TAN Songbird"/>
                <a:cs typeface="TAN Songbird"/>
                <a:sym typeface="TAN Songbird"/>
              </a:rPr>
              <a:t>Objetivos Específicos</a:t>
            </a:r>
          </a:p>
        </p:txBody>
      </p:sp>
      <p:sp>
        <p:nvSpPr>
          <p:cNvPr name="TextBox 7" id="7"/>
          <p:cNvSpPr txBox="true"/>
          <p:nvPr/>
        </p:nvSpPr>
        <p:spPr>
          <a:xfrm rot="0">
            <a:off x="1279865" y="2058095"/>
            <a:ext cx="16497166" cy="7430583"/>
          </a:xfrm>
          <a:prstGeom prst="rect">
            <a:avLst/>
          </a:prstGeom>
        </p:spPr>
        <p:txBody>
          <a:bodyPr anchor="t" rtlCol="false" tIns="0" lIns="0" bIns="0" rIns="0">
            <a:spAutoFit/>
          </a:bodyPr>
          <a:lstStyle/>
          <a:p>
            <a:pPr algn="l" marL="901660" indent="-450830" lvl="1">
              <a:lnSpc>
                <a:spcPts val="4928"/>
              </a:lnSpc>
              <a:buFont typeface="Arial"/>
              <a:buChar char="•"/>
            </a:pPr>
            <a:r>
              <a:rPr lang="en-US" sz="4176">
                <a:solidFill>
                  <a:srgbClr val="000000"/>
                </a:solidFill>
                <a:latin typeface="Neue Einstellung"/>
                <a:ea typeface="Neue Einstellung"/>
                <a:cs typeface="Neue Einstellung"/>
                <a:sym typeface="Neue Einstellung"/>
              </a:rPr>
              <a:t>📍Implementar geolocalización en tiempo real</a:t>
            </a:r>
          </a:p>
          <a:p>
            <a:pPr algn="l">
              <a:lnSpc>
                <a:spcPts val="4928"/>
              </a:lnSpc>
            </a:pPr>
          </a:p>
          <a:p>
            <a:pPr algn="l" marL="901660" indent="-450830" lvl="1">
              <a:lnSpc>
                <a:spcPts val="4928"/>
              </a:lnSpc>
              <a:buFont typeface="Arial"/>
              <a:buChar char="•"/>
            </a:pPr>
            <a:r>
              <a:rPr lang="en-US" sz="4176">
                <a:solidFill>
                  <a:srgbClr val="000000"/>
                </a:solidFill>
                <a:latin typeface="Neue Einstellung"/>
                <a:ea typeface="Neue Einstellung"/>
                <a:cs typeface="Neue Einstellung"/>
                <a:sym typeface="Neue Einstellung"/>
              </a:rPr>
              <a:t>🐶</a:t>
            </a:r>
            <a:r>
              <a:rPr lang="en-US" sz="4176">
                <a:solidFill>
                  <a:srgbClr val="000000"/>
                </a:solidFill>
                <a:latin typeface="Neue Einstellung"/>
                <a:ea typeface="Neue Einstellung"/>
                <a:cs typeface="Neue Einstellung"/>
                <a:sym typeface="Neue Einstellung"/>
              </a:rPr>
              <a:t>Incorporar un sistema de verificación de identidad confiable</a:t>
            </a:r>
          </a:p>
          <a:p>
            <a:pPr algn="l">
              <a:lnSpc>
                <a:spcPts val="4928"/>
              </a:lnSpc>
            </a:pPr>
          </a:p>
          <a:p>
            <a:pPr algn="l" marL="901660" indent="-450830" lvl="1">
              <a:lnSpc>
                <a:spcPts val="4928"/>
              </a:lnSpc>
              <a:buFont typeface="Arial"/>
              <a:buChar char="•"/>
            </a:pPr>
            <a:r>
              <a:rPr lang="en-US" sz="4176">
                <a:solidFill>
                  <a:srgbClr val="000000"/>
                </a:solidFill>
                <a:latin typeface="Neue Einstellung"/>
                <a:ea typeface="Neue Einstellung"/>
                <a:cs typeface="Neue Einstellung"/>
                <a:sym typeface="Neue Einstellung"/>
              </a:rPr>
              <a:t>🐶Interfaz intuitiva y fácil de usar (Similar a la experiencia ofrecida por uber pero orientada al paseo de mascotas)</a:t>
            </a:r>
          </a:p>
          <a:p>
            <a:pPr algn="l">
              <a:lnSpc>
                <a:spcPts val="4928"/>
              </a:lnSpc>
            </a:pPr>
          </a:p>
          <a:p>
            <a:pPr algn="l" marL="901660" indent="-450830" lvl="1">
              <a:lnSpc>
                <a:spcPts val="4928"/>
              </a:lnSpc>
              <a:buFont typeface="Arial"/>
              <a:buChar char="•"/>
            </a:pPr>
            <a:r>
              <a:rPr lang="en-US" sz="4176">
                <a:solidFill>
                  <a:srgbClr val="000000"/>
                </a:solidFill>
                <a:latin typeface="Neue Einstellung"/>
                <a:ea typeface="Neue Einstellung"/>
                <a:cs typeface="Neue Einstellung"/>
                <a:sym typeface="Neue Einstellung"/>
              </a:rPr>
              <a:t>🔒Sistema de pago seguro dentro de la app</a:t>
            </a:r>
          </a:p>
          <a:p>
            <a:pPr algn="l">
              <a:lnSpc>
                <a:spcPts val="4928"/>
              </a:lnSpc>
            </a:pPr>
          </a:p>
          <a:p>
            <a:pPr algn="l" marL="901660" indent="-450830" lvl="1">
              <a:lnSpc>
                <a:spcPts val="4928"/>
              </a:lnSpc>
              <a:buFont typeface="Arial"/>
              <a:buChar char="•"/>
            </a:pPr>
            <a:r>
              <a:rPr lang="en-US" sz="4176">
                <a:solidFill>
                  <a:srgbClr val="000000"/>
                </a:solidFill>
                <a:latin typeface="Neue Einstellung"/>
                <a:ea typeface="Neue Einstellung"/>
                <a:cs typeface="Neue Einstellung"/>
                <a:sym typeface="Neue Einstellung"/>
              </a:rPr>
              <a:t>⭐Sistema de calificaciones tanto para dueños </a:t>
            </a:r>
          </a:p>
          <a:p>
            <a:pPr algn="l">
              <a:lnSpc>
                <a:spcPts val="4928"/>
              </a:lnSpc>
            </a:pPr>
            <a:r>
              <a:rPr lang="en-US" sz="4176">
                <a:solidFill>
                  <a:srgbClr val="000000"/>
                </a:solidFill>
                <a:latin typeface="Neue Einstellung"/>
                <a:ea typeface="Neue Einstellung"/>
                <a:cs typeface="Neue Einstellung"/>
                <a:sym typeface="Neue Einstellung"/>
              </a:rPr>
              <a:t>       como para paseadores</a:t>
            </a:r>
          </a:p>
        </p:txBody>
      </p:sp>
      <p:sp>
        <p:nvSpPr>
          <p:cNvPr name="Freeform 8" id="8"/>
          <p:cNvSpPr/>
          <p:nvPr/>
        </p:nvSpPr>
        <p:spPr>
          <a:xfrm flipH="false" flipV="false" rot="0">
            <a:off x="13489379" y="223363"/>
            <a:ext cx="2038189" cy="1342657"/>
          </a:xfrm>
          <a:custGeom>
            <a:avLst/>
            <a:gdLst/>
            <a:ahLst/>
            <a:cxnLst/>
            <a:rect r="r" b="b" t="t" l="l"/>
            <a:pathLst>
              <a:path h="1342657" w="2038189">
                <a:moveTo>
                  <a:pt x="0" y="0"/>
                </a:moveTo>
                <a:lnTo>
                  <a:pt x="2038189" y="0"/>
                </a:lnTo>
                <a:lnTo>
                  <a:pt x="2038189" y="1342656"/>
                </a:lnTo>
                <a:lnTo>
                  <a:pt x="0" y="1342656"/>
                </a:lnTo>
                <a:lnTo>
                  <a:pt x="0" y="0"/>
                </a:lnTo>
                <a:close/>
              </a:path>
            </a:pathLst>
          </a:custGeom>
          <a:blipFill>
            <a:blip r:embed="rId3"/>
            <a:stretch>
              <a:fillRect l="0" t="0" r="0" b="0"/>
            </a:stretch>
          </a:blipFill>
        </p:spPr>
      </p:sp>
    </p:spTree>
  </p:cSld>
  <p:clrMapOvr>
    <a:masterClrMapping/>
  </p:clrMapOvr>
  <p:transition spd="fast">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8CA4D"/>
        </a:solidFill>
      </p:bgPr>
    </p:bg>
    <p:spTree>
      <p:nvGrpSpPr>
        <p:cNvPr id="1" name=""/>
        <p:cNvGrpSpPr/>
        <p:nvPr/>
      </p:nvGrpSpPr>
      <p:grpSpPr>
        <a:xfrm>
          <a:off x="0" y="0"/>
          <a:ext cx="0" cy="0"/>
          <a:chOff x="0" y="0"/>
          <a:chExt cx="0" cy="0"/>
        </a:xfrm>
      </p:grpSpPr>
      <p:grpSp>
        <p:nvGrpSpPr>
          <p:cNvPr name="Group 2" id="2"/>
          <p:cNvGrpSpPr/>
          <p:nvPr/>
        </p:nvGrpSpPr>
        <p:grpSpPr>
          <a:xfrm rot="0">
            <a:off x="1622833" y="2323538"/>
            <a:ext cx="15408151" cy="7530914"/>
            <a:chOff x="0" y="0"/>
            <a:chExt cx="4058114" cy="1983451"/>
          </a:xfrm>
        </p:grpSpPr>
        <p:sp>
          <p:nvSpPr>
            <p:cNvPr name="Freeform 3" id="3"/>
            <p:cNvSpPr/>
            <p:nvPr/>
          </p:nvSpPr>
          <p:spPr>
            <a:xfrm flipH="false" flipV="false" rot="0">
              <a:off x="0" y="0"/>
              <a:ext cx="4058114" cy="1983451"/>
            </a:xfrm>
            <a:custGeom>
              <a:avLst/>
              <a:gdLst/>
              <a:ahLst/>
              <a:cxnLst/>
              <a:rect r="r" b="b" t="t" l="l"/>
              <a:pathLst>
                <a:path h="1983451" w="4058114">
                  <a:moveTo>
                    <a:pt x="45221" y="0"/>
                  </a:moveTo>
                  <a:lnTo>
                    <a:pt x="4012893" y="0"/>
                  </a:lnTo>
                  <a:cubicBezTo>
                    <a:pt x="4024886" y="0"/>
                    <a:pt x="4036389" y="4764"/>
                    <a:pt x="4044869" y="13245"/>
                  </a:cubicBezTo>
                  <a:cubicBezTo>
                    <a:pt x="4053349" y="21726"/>
                    <a:pt x="4058114" y="33228"/>
                    <a:pt x="4058114" y="45221"/>
                  </a:cubicBezTo>
                  <a:lnTo>
                    <a:pt x="4058114" y="1938230"/>
                  </a:lnTo>
                  <a:cubicBezTo>
                    <a:pt x="4058114" y="1950223"/>
                    <a:pt x="4053349" y="1961725"/>
                    <a:pt x="4044869" y="1970206"/>
                  </a:cubicBezTo>
                  <a:cubicBezTo>
                    <a:pt x="4036389" y="1978686"/>
                    <a:pt x="4024886" y="1983451"/>
                    <a:pt x="4012893" y="1983451"/>
                  </a:cubicBezTo>
                  <a:lnTo>
                    <a:pt x="45221" y="1983451"/>
                  </a:lnTo>
                  <a:cubicBezTo>
                    <a:pt x="33228" y="1983451"/>
                    <a:pt x="21726" y="1978686"/>
                    <a:pt x="13245" y="1970206"/>
                  </a:cubicBezTo>
                  <a:cubicBezTo>
                    <a:pt x="4764" y="1961725"/>
                    <a:pt x="0" y="1950223"/>
                    <a:pt x="0" y="1938230"/>
                  </a:cubicBezTo>
                  <a:lnTo>
                    <a:pt x="0" y="45221"/>
                  </a:lnTo>
                  <a:cubicBezTo>
                    <a:pt x="0" y="33228"/>
                    <a:pt x="4764" y="21726"/>
                    <a:pt x="13245" y="13245"/>
                  </a:cubicBezTo>
                  <a:cubicBezTo>
                    <a:pt x="21726" y="4764"/>
                    <a:pt x="33228" y="0"/>
                    <a:pt x="45221" y="0"/>
                  </a:cubicBezTo>
                  <a:close/>
                </a:path>
              </a:pathLst>
            </a:custGeom>
            <a:solidFill>
              <a:srgbClr val="FFEDD4"/>
            </a:solidFill>
          </p:spPr>
        </p:sp>
        <p:sp>
          <p:nvSpPr>
            <p:cNvPr name="TextBox 4" id="4"/>
            <p:cNvSpPr txBox="true"/>
            <p:nvPr/>
          </p:nvSpPr>
          <p:spPr>
            <a:xfrm>
              <a:off x="0" y="-38100"/>
              <a:ext cx="4058114" cy="202155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768782" y="7283697"/>
            <a:ext cx="3762680" cy="3003303"/>
          </a:xfrm>
          <a:custGeom>
            <a:avLst/>
            <a:gdLst/>
            <a:ahLst/>
            <a:cxnLst/>
            <a:rect r="r" b="b" t="t" l="l"/>
            <a:pathLst>
              <a:path h="3003303" w="3762680">
                <a:moveTo>
                  <a:pt x="0" y="0"/>
                </a:moveTo>
                <a:lnTo>
                  <a:pt x="3762680" y="0"/>
                </a:lnTo>
                <a:lnTo>
                  <a:pt x="3762680" y="3003303"/>
                </a:lnTo>
                <a:lnTo>
                  <a:pt x="0" y="30033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15589">
            <a:off x="14419474" y="629735"/>
            <a:ext cx="2835747" cy="2654968"/>
          </a:xfrm>
          <a:custGeom>
            <a:avLst/>
            <a:gdLst/>
            <a:ahLst/>
            <a:cxnLst/>
            <a:rect r="r" b="b" t="t" l="l"/>
            <a:pathLst>
              <a:path h="2654968" w="2835747">
                <a:moveTo>
                  <a:pt x="0" y="0"/>
                </a:moveTo>
                <a:lnTo>
                  <a:pt x="2835747" y="0"/>
                </a:lnTo>
                <a:lnTo>
                  <a:pt x="2835747" y="2654969"/>
                </a:lnTo>
                <a:lnTo>
                  <a:pt x="0" y="2654969"/>
                </a:lnTo>
                <a:lnTo>
                  <a:pt x="0" y="0"/>
                </a:lnTo>
                <a:close/>
              </a:path>
            </a:pathLst>
          </a:custGeom>
          <a:blipFill>
            <a:blip r:embed="rId4"/>
            <a:stretch>
              <a:fillRect l="0" t="0" r="0" b="0"/>
            </a:stretch>
          </a:blipFill>
        </p:spPr>
      </p:sp>
      <p:sp>
        <p:nvSpPr>
          <p:cNvPr name="Freeform 7" id="7"/>
          <p:cNvSpPr/>
          <p:nvPr/>
        </p:nvSpPr>
        <p:spPr>
          <a:xfrm flipH="true" flipV="false" rot="0">
            <a:off x="0" y="0"/>
            <a:ext cx="3820456" cy="3452737"/>
          </a:xfrm>
          <a:custGeom>
            <a:avLst/>
            <a:gdLst/>
            <a:ahLst/>
            <a:cxnLst/>
            <a:rect r="r" b="b" t="t" l="l"/>
            <a:pathLst>
              <a:path h="3452737" w="3820456">
                <a:moveTo>
                  <a:pt x="3820456" y="0"/>
                </a:moveTo>
                <a:lnTo>
                  <a:pt x="0" y="0"/>
                </a:lnTo>
                <a:lnTo>
                  <a:pt x="0" y="3452737"/>
                </a:lnTo>
                <a:lnTo>
                  <a:pt x="3820456" y="3452737"/>
                </a:lnTo>
                <a:lnTo>
                  <a:pt x="3820456" y="0"/>
                </a:lnTo>
                <a:close/>
              </a:path>
            </a:pathLst>
          </a:custGeom>
          <a:blipFill>
            <a:blip r:embed="rId5"/>
            <a:stretch>
              <a:fillRect l="0" t="0" r="0" b="0"/>
            </a:stretch>
          </a:blipFill>
        </p:spPr>
      </p:sp>
      <p:sp>
        <p:nvSpPr>
          <p:cNvPr name="TextBox 8" id="8"/>
          <p:cNvSpPr txBox="true"/>
          <p:nvPr/>
        </p:nvSpPr>
        <p:spPr>
          <a:xfrm rot="0">
            <a:off x="3820456" y="2333063"/>
            <a:ext cx="12474496" cy="6669345"/>
          </a:xfrm>
          <a:prstGeom prst="rect">
            <a:avLst/>
          </a:prstGeom>
        </p:spPr>
        <p:txBody>
          <a:bodyPr anchor="t" rtlCol="false" tIns="0" lIns="0" bIns="0" rIns="0">
            <a:spAutoFit/>
          </a:bodyPr>
          <a:lstStyle/>
          <a:p>
            <a:pPr algn="l">
              <a:lnSpc>
                <a:spcPts val="5282"/>
              </a:lnSpc>
            </a:pPr>
            <a:r>
              <a:rPr lang="en-US" sz="4476">
                <a:solidFill>
                  <a:srgbClr val="040303"/>
                </a:solidFill>
                <a:latin typeface="Neue Einstellung"/>
                <a:ea typeface="Neue Einstellung"/>
                <a:cs typeface="Neue Einstellung"/>
                <a:sym typeface="Neue Einstellung"/>
              </a:rPr>
              <a:t>PetMatch es una aplicación móvil que conecta a dueños de mascotas con paseadores verificados, ofreciendo una plataforma segura y confiable.</a:t>
            </a:r>
          </a:p>
          <a:p>
            <a:pPr algn="l">
              <a:lnSpc>
                <a:spcPts val="5282"/>
              </a:lnSpc>
            </a:pPr>
          </a:p>
          <a:p>
            <a:pPr algn="l" marL="0" indent="0" lvl="0">
              <a:lnSpc>
                <a:spcPts val="5282"/>
              </a:lnSpc>
              <a:spcBef>
                <a:spcPct val="0"/>
              </a:spcBef>
            </a:pPr>
            <a:r>
              <a:rPr lang="en-US" sz="4476">
                <a:solidFill>
                  <a:srgbClr val="040303"/>
                </a:solidFill>
                <a:latin typeface="Neue Einstellung"/>
                <a:ea typeface="Neue Einstellung"/>
                <a:cs typeface="Neue Einstellung"/>
                <a:sym typeface="Neue Einstellung"/>
              </a:rPr>
              <a:t> A través de reconocimiento facial, validación de identidad y geolocalización, los usuarios pueden contratar servicios de paseo de forma rápida, segura y con total transparencia.</a:t>
            </a:r>
          </a:p>
        </p:txBody>
      </p:sp>
      <p:sp>
        <p:nvSpPr>
          <p:cNvPr name="TextBox 9" id="9"/>
          <p:cNvSpPr txBox="true"/>
          <p:nvPr/>
        </p:nvSpPr>
        <p:spPr>
          <a:xfrm rot="0">
            <a:off x="2773171" y="990470"/>
            <a:ext cx="12741659" cy="966749"/>
          </a:xfrm>
          <a:prstGeom prst="rect">
            <a:avLst/>
          </a:prstGeom>
        </p:spPr>
        <p:txBody>
          <a:bodyPr anchor="t" rtlCol="false" tIns="0" lIns="0" bIns="0" rIns="0">
            <a:spAutoFit/>
          </a:bodyPr>
          <a:lstStyle/>
          <a:p>
            <a:pPr algn="ctr" marL="0" indent="0" lvl="0">
              <a:lnSpc>
                <a:spcPts val="8432"/>
              </a:lnSpc>
            </a:pPr>
            <a:r>
              <a:rPr lang="en-US" sz="4558">
                <a:solidFill>
                  <a:srgbClr val="EB551F"/>
                </a:solidFill>
                <a:latin typeface="TAN Songbird"/>
                <a:ea typeface="TAN Songbird"/>
                <a:cs typeface="TAN Songbird"/>
                <a:sym typeface="TAN Songbird"/>
              </a:rPr>
              <a:t>Nuestra Solución</a:t>
            </a:r>
          </a:p>
        </p:txBody>
      </p:sp>
    </p:spTree>
  </p:cSld>
  <p:clrMapOvr>
    <a:masterClrMapping/>
  </p:clrMapOvr>
  <p:transition spd="fast">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743F"/>
        </a:solidFill>
      </p:bgPr>
    </p:bg>
    <p:spTree>
      <p:nvGrpSpPr>
        <p:cNvPr id="1" name=""/>
        <p:cNvGrpSpPr/>
        <p:nvPr/>
      </p:nvGrpSpPr>
      <p:grpSpPr>
        <a:xfrm>
          <a:off x="0" y="0"/>
          <a:ext cx="0" cy="0"/>
          <a:chOff x="0" y="0"/>
          <a:chExt cx="0" cy="0"/>
        </a:xfrm>
      </p:grpSpPr>
      <p:grpSp>
        <p:nvGrpSpPr>
          <p:cNvPr name="Group 2" id="2"/>
          <p:cNvGrpSpPr/>
          <p:nvPr/>
        </p:nvGrpSpPr>
        <p:grpSpPr>
          <a:xfrm rot="0">
            <a:off x="646029" y="443439"/>
            <a:ext cx="16995941" cy="9400122"/>
            <a:chOff x="0" y="0"/>
            <a:chExt cx="4476297" cy="2475752"/>
          </a:xfrm>
        </p:grpSpPr>
        <p:sp>
          <p:nvSpPr>
            <p:cNvPr name="Freeform 3" id="3"/>
            <p:cNvSpPr/>
            <p:nvPr/>
          </p:nvSpPr>
          <p:spPr>
            <a:xfrm flipH="false" flipV="false" rot="0">
              <a:off x="0" y="0"/>
              <a:ext cx="4476297" cy="2475752"/>
            </a:xfrm>
            <a:custGeom>
              <a:avLst/>
              <a:gdLst/>
              <a:ahLst/>
              <a:cxnLst/>
              <a:rect r="r" b="b" t="t" l="l"/>
              <a:pathLst>
                <a:path h="2475752" w="4476297">
                  <a:moveTo>
                    <a:pt x="40996" y="0"/>
                  </a:moveTo>
                  <a:lnTo>
                    <a:pt x="4435301" y="0"/>
                  </a:lnTo>
                  <a:cubicBezTo>
                    <a:pt x="4446174" y="0"/>
                    <a:pt x="4456602" y="4319"/>
                    <a:pt x="4464290" y="12008"/>
                  </a:cubicBezTo>
                  <a:cubicBezTo>
                    <a:pt x="4471978" y="19696"/>
                    <a:pt x="4476297" y="30123"/>
                    <a:pt x="4476297" y="40996"/>
                  </a:cubicBezTo>
                  <a:lnTo>
                    <a:pt x="4476297" y="2434756"/>
                  </a:lnTo>
                  <a:cubicBezTo>
                    <a:pt x="4476297" y="2457398"/>
                    <a:pt x="4457943" y="2475752"/>
                    <a:pt x="4435301" y="2475752"/>
                  </a:cubicBezTo>
                  <a:lnTo>
                    <a:pt x="40996" y="2475752"/>
                  </a:lnTo>
                  <a:cubicBezTo>
                    <a:pt x="30123" y="2475752"/>
                    <a:pt x="19696" y="2471433"/>
                    <a:pt x="12008" y="2463745"/>
                  </a:cubicBezTo>
                  <a:cubicBezTo>
                    <a:pt x="4319" y="2456056"/>
                    <a:pt x="0" y="2445629"/>
                    <a:pt x="0" y="2434756"/>
                  </a:cubicBezTo>
                  <a:lnTo>
                    <a:pt x="0" y="40996"/>
                  </a:lnTo>
                  <a:cubicBezTo>
                    <a:pt x="0" y="30123"/>
                    <a:pt x="4319" y="19696"/>
                    <a:pt x="12008" y="12008"/>
                  </a:cubicBezTo>
                  <a:cubicBezTo>
                    <a:pt x="19696" y="4319"/>
                    <a:pt x="30123" y="0"/>
                    <a:pt x="40996" y="0"/>
                  </a:cubicBezTo>
                  <a:close/>
                </a:path>
              </a:pathLst>
            </a:custGeom>
            <a:solidFill>
              <a:srgbClr val="FFEDD4"/>
            </a:solidFill>
          </p:spPr>
        </p:sp>
        <p:sp>
          <p:nvSpPr>
            <p:cNvPr name="TextBox 4" id="4"/>
            <p:cNvSpPr txBox="true"/>
            <p:nvPr/>
          </p:nvSpPr>
          <p:spPr>
            <a:xfrm>
              <a:off x="0" y="-38100"/>
              <a:ext cx="4476297" cy="251385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680713">
            <a:off x="13648313" y="849571"/>
            <a:ext cx="1804586" cy="1416600"/>
          </a:xfrm>
          <a:custGeom>
            <a:avLst/>
            <a:gdLst/>
            <a:ahLst/>
            <a:cxnLst/>
            <a:rect r="r" b="b" t="t" l="l"/>
            <a:pathLst>
              <a:path h="1416600" w="1804586">
                <a:moveTo>
                  <a:pt x="0" y="0"/>
                </a:moveTo>
                <a:lnTo>
                  <a:pt x="1804586" y="0"/>
                </a:lnTo>
                <a:lnTo>
                  <a:pt x="1804586" y="1416600"/>
                </a:lnTo>
                <a:lnTo>
                  <a:pt x="0" y="1416600"/>
                </a:lnTo>
                <a:lnTo>
                  <a:pt x="0" y="0"/>
                </a:lnTo>
                <a:close/>
              </a:path>
            </a:pathLst>
          </a:custGeom>
          <a:blipFill>
            <a:blip r:embed="rId2"/>
            <a:stretch>
              <a:fillRect l="0" t="0" r="0" b="0"/>
            </a:stretch>
          </a:blipFill>
        </p:spPr>
      </p:sp>
      <p:sp>
        <p:nvSpPr>
          <p:cNvPr name="Freeform 6" id="6"/>
          <p:cNvSpPr/>
          <p:nvPr/>
        </p:nvSpPr>
        <p:spPr>
          <a:xfrm flipH="false" flipV="false" rot="0">
            <a:off x="9892626" y="3426339"/>
            <a:ext cx="6858399" cy="5632954"/>
          </a:xfrm>
          <a:custGeom>
            <a:avLst/>
            <a:gdLst/>
            <a:ahLst/>
            <a:cxnLst/>
            <a:rect r="r" b="b" t="t" l="l"/>
            <a:pathLst>
              <a:path h="5632954" w="6858399">
                <a:moveTo>
                  <a:pt x="0" y="0"/>
                </a:moveTo>
                <a:lnTo>
                  <a:pt x="6858398" y="0"/>
                </a:lnTo>
                <a:lnTo>
                  <a:pt x="6858398" y="5632955"/>
                </a:lnTo>
                <a:lnTo>
                  <a:pt x="0" y="5632955"/>
                </a:lnTo>
                <a:lnTo>
                  <a:pt x="0" y="0"/>
                </a:lnTo>
                <a:close/>
              </a:path>
            </a:pathLst>
          </a:custGeom>
          <a:blipFill>
            <a:blip r:embed="rId3"/>
            <a:stretch>
              <a:fillRect l="-10941" t="0" r="-13168" b="0"/>
            </a:stretch>
          </a:blipFill>
        </p:spPr>
      </p:sp>
      <p:sp>
        <p:nvSpPr>
          <p:cNvPr name="Freeform 7" id="7"/>
          <p:cNvSpPr/>
          <p:nvPr/>
        </p:nvSpPr>
        <p:spPr>
          <a:xfrm flipH="true" flipV="false" rot="0">
            <a:off x="15574605" y="7438776"/>
            <a:ext cx="2352839" cy="2404785"/>
          </a:xfrm>
          <a:custGeom>
            <a:avLst/>
            <a:gdLst/>
            <a:ahLst/>
            <a:cxnLst/>
            <a:rect r="r" b="b" t="t" l="l"/>
            <a:pathLst>
              <a:path h="2404785" w="2352839">
                <a:moveTo>
                  <a:pt x="2352839" y="0"/>
                </a:moveTo>
                <a:lnTo>
                  <a:pt x="0" y="0"/>
                </a:lnTo>
                <a:lnTo>
                  <a:pt x="0" y="2404785"/>
                </a:lnTo>
                <a:lnTo>
                  <a:pt x="2352839" y="2404785"/>
                </a:lnTo>
                <a:lnTo>
                  <a:pt x="2352839" y="0"/>
                </a:lnTo>
                <a:close/>
              </a:path>
            </a:pathLst>
          </a:custGeom>
          <a:blipFill>
            <a:blip r:embed="rId4"/>
            <a:stretch>
              <a:fillRect l="0" t="0" r="0" b="0"/>
            </a:stretch>
          </a:blipFill>
        </p:spPr>
      </p:sp>
      <p:sp>
        <p:nvSpPr>
          <p:cNvPr name="TextBox 8" id="8"/>
          <p:cNvSpPr txBox="true"/>
          <p:nvPr/>
        </p:nvSpPr>
        <p:spPr>
          <a:xfrm rot="0">
            <a:off x="901261" y="3293801"/>
            <a:ext cx="8706306" cy="5496734"/>
          </a:xfrm>
          <a:prstGeom prst="rect">
            <a:avLst/>
          </a:prstGeom>
        </p:spPr>
        <p:txBody>
          <a:bodyPr anchor="t" rtlCol="false" tIns="0" lIns="0" bIns="0" rIns="0">
            <a:spAutoFit/>
          </a:bodyPr>
          <a:lstStyle/>
          <a:p>
            <a:pPr algn="l" marL="0" indent="0" lvl="0">
              <a:lnSpc>
                <a:spcPts val="4800"/>
              </a:lnSpc>
              <a:spcBef>
                <a:spcPct val="0"/>
              </a:spcBef>
            </a:pPr>
            <a:r>
              <a:rPr lang="en-US" sz="4068">
                <a:solidFill>
                  <a:srgbClr val="000000"/>
                </a:solidFill>
                <a:latin typeface="Neue Einstellung"/>
                <a:ea typeface="Neue Einstellung"/>
                <a:cs typeface="Neue Einstellung"/>
                <a:sym typeface="Neue Einstellung"/>
              </a:rPr>
              <a:t>El proyecto PetMatch se desarrolló utilizando la metodología en cascada, un modelo que avanza de forma secuencial. Cada fase debe completarse antes de iniciar la siguiente, lo que permite una planificación clara, mantener el control del avance y asegurar orden en el proceso de desarrollo.</a:t>
            </a:r>
          </a:p>
        </p:txBody>
      </p:sp>
      <p:sp>
        <p:nvSpPr>
          <p:cNvPr name="TextBox 9" id="9"/>
          <p:cNvSpPr txBox="true"/>
          <p:nvPr/>
        </p:nvSpPr>
        <p:spPr>
          <a:xfrm rot="0">
            <a:off x="713559" y="864133"/>
            <a:ext cx="13117062" cy="1073150"/>
          </a:xfrm>
          <a:prstGeom prst="rect">
            <a:avLst/>
          </a:prstGeom>
        </p:spPr>
        <p:txBody>
          <a:bodyPr anchor="t" rtlCol="false" tIns="0" lIns="0" bIns="0" rIns="0">
            <a:spAutoFit/>
          </a:bodyPr>
          <a:lstStyle/>
          <a:p>
            <a:pPr algn="ctr" marL="0" indent="0" lvl="0">
              <a:lnSpc>
                <a:spcPts val="9250"/>
              </a:lnSpc>
              <a:spcBef>
                <a:spcPct val="0"/>
              </a:spcBef>
            </a:pPr>
            <a:r>
              <a:rPr lang="en-US" sz="5000">
                <a:solidFill>
                  <a:srgbClr val="88C440"/>
                </a:solidFill>
                <a:latin typeface="TAN Songbird"/>
                <a:ea typeface="TAN Songbird"/>
                <a:cs typeface="TAN Songbird"/>
                <a:sym typeface="TAN Songbird"/>
              </a:rPr>
              <a:t>Metodología Utilizada</a:t>
            </a:r>
          </a:p>
        </p:txBody>
      </p:sp>
      <p:sp>
        <p:nvSpPr>
          <p:cNvPr name="TextBox 10" id="10"/>
          <p:cNvSpPr txBox="true"/>
          <p:nvPr/>
        </p:nvSpPr>
        <p:spPr>
          <a:xfrm rot="0">
            <a:off x="901261" y="1993677"/>
            <a:ext cx="12741659" cy="966749"/>
          </a:xfrm>
          <a:prstGeom prst="rect">
            <a:avLst/>
          </a:prstGeom>
        </p:spPr>
        <p:txBody>
          <a:bodyPr anchor="t" rtlCol="false" tIns="0" lIns="0" bIns="0" rIns="0">
            <a:spAutoFit/>
          </a:bodyPr>
          <a:lstStyle/>
          <a:p>
            <a:pPr algn="ctr" marL="0" indent="0" lvl="0">
              <a:lnSpc>
                <a:spcPts val="8432"/>
              </a:lnSpc>
            </a:pPr>
            <a:r>
              <a:rPr lang="en-US" sz="4558">
                <a:solidFill>
                  <a:srgbClr val="EB551F"/>
                </a:solidFill>
                <a:latin typeface="TAN Songbird"/>
                <a:ea typeface="TAN Songbird"/>
                <a:cs typeface="TAN Songbird"/>
                <a:sym typeface="TAN Songbird"/>
              </a:rPr>
              <a:t>En Cascada</a:t>
            </a:r>
          </a:p>
        </p:txBody>
      </p:sp>
    </p:spTree>
  </p:cSld>
  <p:clrMapOvr>
    <a:masterClrMapping/>
  </p:clrMapOvr>
  <p:transition spd="fast">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88C440"/>
        </a:solidFill>
      </p:bgPr>
    </p:bg>
    <p:spTree>
      <p:nvGrpSpPr>
        <p:cNvPr id="1" name=""/>
        <p:cNvGrpSpPr/>
        <p:nvPr/>
      </p:nvGrpSpPr>
      <p:grpSpPr>
        <a:xfrm>
          <a:off x="0" y="0"/>
          <a:ext cx="0" cy="0"/>
          <a:chOff x="0" y="0"/>
          <a:chExt cx="0" cy="0"/>
        </a:xfrm>
      </p:grpSpPr>
      <p:grpSp>
        <p:nvGrpSpPr>
          <p:cNvPr name="Group 2" id="2"/>
          <p:cNvGrpSpPr/>
          <p:nvPr/>
        </p:nvGrpSpPr>
        <p:grpSpPr>
          <a:xfrm rot="0">
            <a:off x="327838" y="514494"/>
            <a:ext cx="17632325" cy="9102334"/>
            <a:chOff x="0" y="0"/>
            <a:chExt cx="4643904" cy="2397323"/>
          </a:xfrm>
        </p:grpSpPr>
        <p:sp>
          <p:nvSpPr>
            <p:cNvPr name="Freeform 3" id="3"/>
            <p:cNvSpPr/>
            <p:nvPr/>
          </p:nvSpPr>
          <p:spPr>
            <a:xfrm flipH="false" flipV="false" rot="0">
              <a:off x="0" y="0"/>
              <a:ext cx="4643905" cy="2397323"/>
            </a:xfrm>
            <a:custGeom>
              <a:avLst/>
              <a:gdLst/>
              <a:ahLst/>
              <a:cxnLst/>
              <a:rect r="r" b="b" t="t" l="l"/>
              <a:pathLst>
                <a:path h="2397323" w="4643905">
                  <a:moveTo>
                    <a:pt x="39517" y="0"/>
                  </a:moveTo>
                  <a:lnTo>
                    <a:pt x="4604388" y="0"/>
                  </a:lnTo>
                  <a:cubicBezTo>
                    <a:pt x="4626212" y="0"/>
                    <a:pt x="4643905" y="17692"/>
                    <a:pt x="4643905" y="39517"/>
                  </a:cubicBezTo>
                  <a:lnTo>
                    <a:pt x="4643905" y="2357806"/>
                  </a:lnTo>
                  <a:cubicBezTo>
                    <a:pt x="4643905" y="2379630"/>
                    <a:pt x="4626212" y="2397323"/>
                    <a:pt x="4604388" y="2397323"/>
                  </a:cubicBezTo>
                  <a:lnTo>
                    <a:pt x="39517" y="2397323"/>
                  </a:lnTo>
                  <a:cubicBezTo>
                    <a:pt x="29036" y="2397323"/>
                    <a:pt x="18985" y="2393159"/>
                    <a:pt x="11574" y="2385749"/>
                  </a:cubicBezTo>
                  <a:cubicBezTo>
                    <a:pt x="4163" y="2378338"/>
                    <a:pt x="0" y="2368286"/>
                    <a:pt x="0" y="2357806"/>
                  </a:cubicBezTo>
                  <a:lnTo>
                    <a:pt x="0" y="39517"/>
                  </a:lnTo>
                  <a:cubicBezTo>
                    <a:pt x="0" y="29036"/>
                    <a:pt x="4163" y="18985"/>
                    <a:pt x="11574" y="11574"/>
                  </a:cubicBezTo>
                  <a:cubicBezTo>
                    <a:pt x="18985" y="4163"/>
                    <a:pt x="29036" y="0"/>
                    <a:pt x="39517" y="0"/>
                  </a:cubicBezTo>
                  <a:close/>
                </a:path>
              </a:pathLst>
            </a:custGeom>
            <a:solidFill>
              <a:srgbClr val="FFEDD4"/>
            </a:solidFill>
          </p:spPr>
        </p:sp>
        <p:sp>
          <p:nvSpPr>
            <p:cNvPr name="TextBox 4" id="4"/>
            <p:cNvSpPr txBox="true"/>
            <p:nvPr/>
          </p:nvSpPr>
          <p:spPr>
            <a:xfrm>
              <a:off x="0" y="-38100"/>
              <a:ext cx="4643904" cy="2435423"/>
            </a:xfrm>
            <a:prstGeom prst="rect">
              <a:avLst/>
            </a:prstGeom>
          </p:spPr>
          <p:txBody>
            <a:bodyPr anchor="ctr" rtlCol="false" tIns="50800" lIns="50800" bIns="50800" rIns="50800"/>
            <a:lstStyle/>
            <a:p>
              <a:pPr algn="r">
                <a:lnSpc>
                  <a:spcPts val="2659"/>
                </a:lnSpc>
                <a:spcBef>
                  <a:spcPct val="0"/>
                </a:spcBef>
              </a:pPr>
            </a:p>
          </p:txBody>
        </p:sp>
      </p:grpSp>
      <p:sp>
        <p:nvSpPr>
          <p:cNvPr name="Freeform 5" id="5"/>
          <p:cNvSpPr/>
          <p:nvPr/>
        </p:nvSpPr>
        <p:spPr>
          <a:xfrm flipH="false" flipV="false" rot="0">
            <a:off x="15378508" y="7035165"/>
            <a:ext cx="5160242" cy="4644218"/>
          </a:xfrm>
          <a:custGeom>
            <a:avLst/>
            <a:gdLst/>
            <a:ahLst/>
            <a:cxnLst/>
            <a:rect r="r" b="b" t="t" l="l"/>
            <a:pathLst>
              <a:path h="4644218" w="5160242">
                <a:moveTo>
                  <a:pt x="0" y="0"/>
                </a:moveTo>
                <a:lnTo>
                  <a:pt x="5160242" y="0"/>
                </a:lnTo>
                <a:lnTo>
                  <a:pt x="5160242" y="4644218"/>
                </a:lnTo>
                <a:lnTo>
                  <a:pt x="0" y="4644218"/>
                </a:lnTo>
                <a:lnTo>
                  <a:pt x="0" y="0"/>
                </a:lnTo>
                <a:close/>
              </a:path>
            </a:pathLst>
          </a:custGeom>
          <a:blipFill>
            <a:blip r:embed="rId2"/>
            <a:stretch>
              <a:fillRect l="0" t="0" r="0" b="0"/>
            </a:stretch>
          </a:blipFill>
        </p:spPr>
      </p:sp>
      <p:sp>
        <p:nvSpPr>
          <p:cNvPr name="TextBox 6" id="6"/>
          <p:cNvSpPr txBox="true"/>
          <p:nvPr/>
        </p:nvSpPr>
        <p:spPr>
          <a:xfrm rot="0">
            <a:off x="1760204" y="982685"/>
            <a:ext cx="13065981" cy="806419"/>
          </a:xfrm>
          <a:prstGeom prst="rect">
            <a:avLst/>
          </a:prstGeom>
        </p:spPr>
        <p:txBody>
          <a:bodyPr anchor="t" rtlCol="false" tIns="0" lIns="0" bIns="0" rIns="0">
            <a:spAutoFit/>
          </a:bodyPr>
          <a:lstStyle/>
          <a:p>
            <a:pPr algn="ctr" marL="0" indent="0" lvl="0">
              <a:lnSpc>
                <a:spcPts val="6977"/>
              </a:lnSpc>
              <a:spcBef>
                <a:spcPct val="0"/>
              </a:spcBef>
            </a:pPr>
            <a:r>
              <a:rPr lang="en-US" sz="3771">
                <a:solidFill>
                  <a:srgbClr val="80AE41"/>
                </a:solidFill>
                <a:latin typeface="TAN Songbird"/>
                <a:ea typeface="TAN Songbird"/>
                <a:cs typeface="TAN Songbird"/>
                <a:sym typeface="TAN Songbird"/>
              </a:rPr>
              <a:t>Cronograma  del Proyecto </a:t>
            </a:r>
          </a:p>
        </p:txBody>
      </p:sp>
      <p:sp>
        <p:nvSpPr>
          <p:cNvPr name="TextBox 7" id="7"/>
          <p:cNvSpPr txBox="true"/>
          <p:nvPr/>
        </p:nvSpPr>
        <p:spPr>
          <a:xfrm rot="0">
            <a:off x="269891" y="5827079"/>
            <a:ext cx="5849917" cy="2922972"/>
          </a:xfrm>
          <a:prstGeom prst="rect">
            <a:avLst/>
          </a:prstGeom>
        </p:spPr>
        <p:txBody>
          <a:bodyPr anchor="t" rtlCol="false" tIns="0" lIns="0" bIns="0" rIns="0">
            <a:spAutoFit/>
          </a:bodyPr>
          <a:lstStyle/>
          <a:p>
            <a:pPr algn="l" marL="707355" indent="-353677" lvl="1">
              <a:lnSpc>
                <a:spcPts val="3866"/>
              </a:lnSpc>
              <a:buFont typeface="Arial"/>
              <a:buChar char="•"/>
            </a:pPr>
            <a:r>
              <a:rPr lang="en-US" sz="3276">
                <a:solidFill>
                  <a:srgbClr val="000000"/>
                </a:solidFill>
                <a:latin typeface="Neue Einstellung"/>
                <a:ea typeface="Neue Einstellung"/>
                <a:cs typeface="Neue Einstellung"/>
                <a:sym typeface="Neue Einstellung"/>
              </a:rPr>
              <a:t>Levantamiento de requerimientos</a:t>
            </a:r>
          </a:p>
          <a:p>
            <a:pPr algn="l" marL="707355" indent="-353677" lvl="1">
              <a:lnSpc>
                <a:spcPts val="3866"/>
              </a:lnSpc>
              <a:buFont typeface="Arial"/>
              <a:buChar char="•"/>
            </a:pPr>
            <a:r>
              <a:rPr lang="en-US" sz="3276">
                <a:solidFill>
                  <a:srgbClr val="000000"/>
                </a:solidFill>
                <a:latin typeface="Neue Einstellung"/>
                <a:ea typeface="Neue Einstellung"/>
                <a:cs typeface="Neue Einstellung"/>
                <a:sym typeface="Neue Einstellung"/>
              </a:rPr>
              <a:t>Definición del alcance</a:t>
            </a:r>
          </a:p>
          <a:p>
            <a:pPr algn="l" marL="707355" indent="-353677" lvl="1">
              <a:lnSpc>
                <a:spcPts val="3866"/>
              </a:lnSpc>
              <a:buFont typeface="Arial"/>
              <a:buChar char="•"/>
            </a:pPr>
            <a:r>
              <a:rPr lang="en-US" sz="3276">
                <a:solidFill>
                  <a:srgbClr val="000000"/>
                </a:solidFill>
                <a:latin typeface="Neue Einstellung"/>
                <a:ea typeface="Neue Einstellung"/>
                <a:cs typeface="Neue Einstellung"/>
                <a:sym typeface="Neue Einstellung"/>
              </a:rPr>
              <a:t>Diseño de arquitectura</a:t>
            </a:r>
          </a:p>
          <a:p>
            <a:pPr algn="l" marL="707355" indent="-353677" lvl="1">
              <a:lnSpc>
                <a:spcPts val="3866"/>
              </a:lnSpc>
              <a:buFont typeface="Arial"/>
              <a:buChar char="•"/>
            </a:pPr>
            <a:r>
              <a:rPr lang="en-US" sz="3276">
                <a:solidFill>
                  <a:srgbClr val="000000"/>
                </a:solidFill>
                <a:latin typeface="Neue Einstellung"/>
                <a:ea typeface="Neue Einstellung"/>
                <a:cs typeface="Neue Einstellung"/>
                <a:sym typeface="Neue Einstellung"/>
              </a:rPr>
              <a:t>Creación de mockups</a:t>
            </a:r>
          </a:p>
          <a:p>
            <a:pPr algn="l">
              <a:lnSpc>
                <a:spcPts val="3866"/>
              </a:lnSpc>
            </a:pPr>
          </a:p>
        </p:txBody>
      </p:sp>
      <p:sp>
        <p:nvSpPr>
          <p:cNvPr name="Freeform 8" id="8"/>
          <p:cNvSpPr/>
          <p:nvPr/>
        </p:nvSpPr>
        <p:spPr>
          <a:xfrm flipH="false" flipV="false" rot="0">
            <a:off x="681753" y="952589"/>
            <a:ext cx="1319945" cy="836515"/>
          </a:xfrm>
          <a:custGeom>
            <a:avLst/>
            <a:gdLst/>
            <a:ahLst/>
            <a:cxnLst/>
            <a:rect r="r" b="b" t="t" l="l"/>
            <a:pathLst>
              <a:path h="836515" w="1319945">
                <a:moveTo>
                  <a:pt x="0" y="0"/>
                </a:moveTo>
                <a:lnTo>
                  <a:pt x="1319946" y="0"/>
                </a:lnTo>
                <a:lnTo>
                  <a:pt x="1319946" y="836515"/>
                </a:lnTo>
                <a:lnTo>
                  <a:pt x="0" y="836515"/>
                </a:lnTo>
                <a:lnTo>
                  <a:pt x="0" y="0"/>
                </a:lnTo>
                <a:close/>
              </a:path>
            </a:pathLst>
          </a:custGeom>
          <a:blipFill>
            <a:blip r:embed="rId3"/>
            <a:stretch>
              <a:fillRect l="0" t="0" r="0" b="0"/>
            </a:stretch>
          </a:blipFill>
        </p:spPr>
      </p:sp>
      <p:sp>
        <p:nvSpPr>
          <p:cNvPr name="Freeform 9" id="9"/>
          <p:cNvSpPr/>
          <p:nvPr/>
        </p:nvSpPr>
        <p:spPr>
          <a:xfrm flipH="false" flipV="false" rot="0">
            <a:off x="13979850" y="902704"/>
            <a:ext cx="1398659" cy="886400"/>
          </a:xfrm>
          <a:custGeom>
            <a:avLst/>
            <a:gdLst/>
            <a:ahLst/>
            <a:cxnLst/>
            <a:rect r="r" b="b" t="t" l="l"/>
            <a:pathLst>
              <a:path h="886400" w="1398659">
                <a:moveTo>
                  <a:pt x="0" y="0"/>
                </a:moveTo>
                <a:lnTo>
                  <a:pt x="1398658" y="0"/>
                </a:lnTo>
                <a:lnTo>
                  <a:pt x="1398658" y="886400"/>
                </a:lnTo>
                <a:lnTo>
                  <a:pt x="0" y="886400"/>
                </a:lnTo>
                <a:lnTo>
                  <a:pt x="0" y="0"/>
                </a:lnTo>
                <a:close/>
              </a:path>
            </a:pathLst>
          </a:custGeom>
          <a:blipFill>
            <a:blip r:embed="rId3"/>
            <a:stretch>
              <a:fillRect l="0" t="0" r="0" b="0"/>
            </a:stretch>
          </a:blipFill>
        </p:spPr>
      </p:sp>
      <p:sp>
        <p:nvSpPr>
          <p:cNvPr name="TextBox 10" id="10"/>
          <p:cNvSpPr txBox="true"/>
          <p:nvPr/>
        </p:nvSpPr>
        <p:spPr>
          <a:xfrm rot="0">
            <a:off x="782992" y="2011470"/>
            <a:ext cx="16606124" cy="2002095"/>
          </a:xfrm>
          <a:prstGeom prst="rect">
            <a:avLst/>
          </a:prstGeom>
        </p:spPr>
        <p:txBody>
          <a:bodyPr anchor="t" rtlCol="false" tIns="0" lIns="0" bIns="0" rIns="0">
            <a:spAutoFit/>
          </a:bodyPr>
          <a:lstStyle/>
          <a:p>
            <a:pPr algn="l">
              <a:lnSpc>
                <a:spcPts val="5282"/>
              </a:lnSpc>
            </a:pPr>
            <a:r>
              <a:rPr lang="en-US" sz="4476">
                <a:solidFill>
                  <a:srgbClr val="000000"/>
                </a:solidFill>
                <a:latin typeface="Neue Einstellung"/>
                <a:ea typeface="Neue Einstellung"/>
                <a:cs typeface="Neue Einstellung"/>
                <a:sym typeface="Neue Einstellung"/>
              </a:rPr>
              <a:t>El proyecto PetMatch tuvo una duración total de 16 semanas, abarcando desde su definición inicial el día 16 de agosto hasta el 05 de Diciembre </a:t>
            </a:r>
          </a:p>
        </p:txBody>
      </p:sp>
      <p:sp>
        <p:nvSpPr>
          <p:cNvPr name="TextBox 11" id="11"/>
          <p:cNvSpPr txBox="true"/>
          <p:nvPr/>
        </p:nvSpPr>
        <p:spPr>
          <a:xfrm rot="0">
            <a:off x="782992" y="4323535"/>
            <a:ext cx="2482348" cy="742126"/>
          </a:xfrm>
          <a:prstGeom prst="rect">
            <a:avLst/>
          </a:prstGeom>
        </p:spPr>
        <p:txBody>
          <a:bodyPr anchor="t" rtlCol="false" tIns="0" lIns="0" bIns="0" rIns="0">
            <a:spAutoFit/>
          </a:bodyPr>
          <a:lstStyle/>
          <a:p>
            <a:pPr algn="ctr" marL="0" indent="0" lvl="0">
              <a:lnSpc>
                <a:spcPts val="6422"/>
              </a:lnSpc>
              <a:spcBef>
                <a:spcPct val="0"/>
              </a:spcBef>
            </a:pPr>
            <a:r>
              <a:rPr lang="en-US" sz="3471">
                <a:solidFill>
                  <a:srgbClr val="80AE41"/>
                </a:solidFill>
                <a:latin typeface="TAN Songbird"/>
                <a:ea typeface="TAN Songbird"/>
                <a:cs typeface="TAN Songbird"/>
                <a:sym typeface="TAN Songbird"/>
              </a:rPr>
              <a:t>Fase 1</a:t>
            </a:r>
          </a:p>
        </p:txBody>
      </p:sp>
      <p:sp>
        <p:nvSpPr>
          <p:cNvPr name="TextBox 12" id="12"/>
          <p:cNvSpPr txBox="true"/>
          <p:nvPr/>
        </p:nvSpPr>
        <p:spPr>
          <a:xfrm rot="0">
            <a:off x="6219041" y="4323535"/>
            <a:ext cx="2482348" cy="742126"/>
          </a:xfrm>
          <a:prstGeom prst="rect">
            <a:avLst/>
          </a:prstGeom>
        </p:spPr>
        <p:txBody>
          <a:bodyPr anchor="t" rtlCol="false" tIns="0" lIns="0" bIns="0" rIns="0">
            <a:spAutoFit/>
          </a:bodyPr>
          <a:lstStyle/>
          <a:p>
            <a:pPr algn="ctr" marL="0" indent="0" lvl="0">
              <a:lnSpc>
                <a:spcPts val="6422"/>
              </a:lnSpc>
              <a:spcBef>
                <a:spcPct val="0"/>
              </a:spcBef>
            </a:pPr>
            <a:r>
              <a:rPr lang="en-US" sz="3471">
                <a:solidFill>
                  <a:srgbClr val="80AE41"/>
                </a:solidFill>
                <a:latin typeface="TAN Songbird"/>
                <a:ea typeface="TAN Songbird"/>
                <a:cs typeface="TAN Songbird"/>
                <a:sym typeface="TAN Songbird"/>
              </a:rPr>
              <a:t>Fase 2</a:t>
            </a:r>
          </a:p>
        </p:txBody>
      </p:sp>
      <p:sp>
        <p:nvSpPr>
          <p:cNvPr name="TextBox 13" id="13"/>
          <p:cNvSpPr txBox="true"/>
          <p:nvPr/>
        </p:nvSpPr>
        <p:spPr>
          <a:xfrm rot="0">
            <a:off x="5776430" y="5827079"/>
            <a:ext cx="5849917" cy="3894522"/>
          </a:xfrm>
          <a:prstGeom prst="rect">
            <a:avLst/>
          </a:prstGeom>
        </p:spPr>
        <p:txBody>
          <a:bodyPr anchor="t" rtlCol="false" tIns="0" lIns="0" bIns="0" rIns="0">
            <a:spAutoFit/>
          </a:bodyPr>
          <a:lstStyle/>
          <a:p>
            <a:pPr algn="l" marL="707355" indent="-353677" lvl="1">
              <a:lnSpc>
                <a:spcPts val="3866"/>
              </a:lnSpc>
              <a:buFont typeface="Arial"/>
              <a:buChar char="•"/>
            </a:pPr>
            <a:r>
              <a:rPr lang="en-US" sz="3276">
                <a:solidFill>
                  <a:srgbClr val="000000"/>
                </a:solidFill>
                <a:latin typeface="Neue Einstellung"/>
                <a:ea typeface="Neue Einstellung"/>
                <a:cs typeface="Neue Einstellung"/>
                <a:sym typeface="Neue Einstellung"/>
              </a:rPr>
              <a:t>Registro y validación facial</a:t>
            </a:r>
          </a:p>
          <a:p>
            <a:pPr algn="l" marL="707355" indent="-353677" lvl="1">
              <a:lnSpc>
                <a:spcPts val="3866"/>
              </a:lnSpc>
              <a:buFont typeface="Arial"/>
              <a:buChar char="•"/>
            </a:pPr>
            <a:r>
              <a:rPr lang="en-US" sz="3276">
                <a:solidFill>
                  <a:srgbClr val="000000"/>
                </a:solidFill>
                <a:latin typeface="Neue Einstellung"/>
                <a:ea typeface="Neue Einstellung"/>
                <a:cs typeface="Neue Einstellung"/>
                <a:sym typeface="Neue Einstellung"/>
              </a:rPr>
              <a:t>Geolocalización</a:t>
            </a:r>
          </a:p>
          <a:p>
            <a:pPr algn="l" marL="707355" indent="-353677" lvl="1">
              <a:lnSpc>
                <a:spcPts val="3866"/>
              </a:lnSpc>
              <a:buFont typeface="Arial"/>
              <a:buChar char="•"/>
            </a:pPr>
            <a:r>
              <a:rPr lang="en-US" sz="3276">
                <a:solidFill>
                  <a:srgbClr val="000000"/>
                </a:solidFill>
                <a:latin typeface="Neue Einstellung"/>
                <a:ea typeface="Neue Einstellung"/>
                <a:cs typeface="Neue Einstellung"/>
                <a:sym typeface="Neue Einstellung"/>
              </a:rPr>
              <a:t>Servicios de paseo/cuidado</a:t>
            </a:r>
          </a:p>
          <a:p>
            <a:pPr algn="l" marL="707355" indent="-353677" lvl="1">
              <a:lnSpc>
                <a:spcPts val="3866"/>
              </a:lnSpc>
              <a:buFont typeface="Arial"/>
              <a:buChar char="•"/>
            </a:pPr>
            <a:r>
              <a:rPr lang="en-US" sz="3276">
                <a:solidFill>
                  <a:srgbClr val="000000"/>
                </a:solidFill>
                <a:latin typeface="Neue Einstellung"/>
                <a:ea typeface="Neue Einstellung"/>
                <a:cs typeface="Neue Einstellung"/>
                <a:sym typeface="Neue Einstellung"/>
              </a:rPr>
              <a:t>Sistema de pagos</a:t>
            </a:r>
          </a:p>
          <a:p>
            <a:pPr algn="l" marL="707355" indent="-353677" lvl="1">
              <a:lnSpc>
                <a:spcPts val="3866"/>
              </a:lnSpc>
              <a:buFont typeface="Arial"/>
              <a:buChar char="•"/>
            </a:pPr>
            <a:r>
              <a:rPr lang="en-US" sz="3276">
                <a:solidFill>
                  <a:srgbClr val="000000"/>
                </a:solidFill>
                <a:latin typeface="Neue Einstellung"/>
                <a:ea typeface="Neue Einstellung"/>
                <a:cs typeface="Neue Einstellung"/>
                <a:sym typeface="Neue Einstellung"/>
              </a:rPr>
              <a:t>Historial y calificaciones</a:t>
            </a:r>
          </a:p>
          <a:p>
            <a:pPr algn="l">
              <a:lnSpc>
                <a:spcPts val="3866"/>
              </a:lnSpc>
            </a:pPr>
          </a:p>
        </p:txBody>
      </p:sp>
      <p:sp>
        <p:nvSpPr>
          <p:cNvPr name="TextBox 14" id="14"/>
          <p:cNvSpPr txBox="true"/>
          <p:nvPr/>
        </p:nvSpPr>
        <p:spPr>
          <a:xfrm rot="0">
            <a:off x="11908911" y="4323535"/>
            <a:ext cx="2917274" cy="742126"/>
          </a:xfrm>
          <a:prstGeom prst="rect">
            <a:avLst/>
          </a:prstGeom>
        </p:spPr>
        <p:txBody>
          <a:bodyPr anchor="t" rtlCol="false" tIns="0" lIns="0" bIns="0" rIns="0">
            <a:spAutoFit/>
          </a:bodyPr>
          <a:lstStyle/>
          <a:p>
            <a:pPr algn="ctr" marL="0" indent="0" lvl="0">
              <a:lnSpc>
                <a:spcPts val="6422"/>
              </a:lnSpc>
              <a:spcBef>
                <a:spcPct val="0"/>
              </a:spcBef>
            </a:pPr>
            <a:r>
              <a:rPr lang="en-US" sz="3471">
                <a:solidFill>
                  <a:srgbClr val="80AE41"/>
                </a:solidFill>
                <a:latin typeface="TAN Songbird"/>
                <a:ea typeface="TAN Songbird"/>
                <a:cs typeface="TAN Songbird"/>
                <a:sym typeface="TAN Songbird"/>
              </a:rPr>
              <a:t>Fase 3</a:t>
            </a:r>
          </a:p>
        </p:txBody>
      </p:sp>
      <p:sp>
        <p:nvSpPr>
          <p:cNvPr name="TextBox 15" id="15"/>
          <p:cNvSpPr txBox="true"/>
          <p:nvPr/>
        </p:nvSpPr>
        <p:spPr>
          <a:xfrm rot="0">
            <a:off x="681753" y="5199632"/>
            <a:ext cx="5849917" cy="494097"/>
          </a:xfrm>
          <a:prstGeom prst="rect">
            <a:avLst/>
          </a:prstGeom>
        </p:spPr>
        <p:txBody>
          <a:bodyPr anchor="t" rtlCol="false" tIns="0" lIns="0" bIns="0" rIns="0">
            <a:spAutoFit/>
          </a:bodyPr>
          <a:lstStyle/>
          <a:p>
            <a:pPr algn="l">
              <a:lnSpc>
                <a:spcPts val="3866"/>
              </a:lnSpc>
            </a:pPr>
            <a:r>
              <a:rPr lang="en-US" sz="3276">
                <a:solidFill>
                  <a:srgbClr val="000000"/>
                </a:solidFill>
                <a:latin typeface="Neue Einstellung"/>
                <a:ea typeface="Neue Einstellung"/>
                <a:cs typeface="Neue Einstellung"/>
                <a:sym typeface="Neue Einstellung"/>
              </a:rPr>
              <a:t>“Análisis y Diseño”</a:t>
            </a:r>
          </a:p>
        </p:txBody>
      </p:sp>
      <p:sp>
        <p:nvSpPr>
          <p:cNvPr name="TextBox 16" id="16"/>
          <p:cNvSpPr txBox="true"/>
          <p:nvPr/>
        </p:nvSpPr>
        <p:spPr>
          <a:xfrm rot="0">
            <a:off x="6058993" y="5199632"/>
            <a:ext cx="5174616" cy="494097"/>
          </a:xfrm>
          <a:prstGeom prst="rect">
            <a:avLst/>
          </a:prstGeom>
        </p:spPr>
        <p:txBody>
          <a:bodyPr anchor="t" rtlCol="false" tIns="0" lIns="0" bIns="0" rIns="0">
            <a:spAutoFit/>
          </a:bodyPr>
          <a:lstStyle/>
          <a:p>
            <a:pPr algn="l">
              <a:lnSpc>
                <a:spcPts val="3866"/>
              </a:lnSpc>
            </a:pPr>
            <a:r>
              <a:rPr lang="en-US" sz="3276">
                <a:solidFill>
                  <a:srgbClr val="000000"/>
                </a:solidFill>
                <a:latin typeface="Neue Einstellung"/>
                <a:ea typeface="Neue Einstellung"/>
                <a:cs typeface="Neue Einstellung"/>
                <a:sym typeface="Neue Einstellung"/>
              </a:rPr>
              <a:t>“Desarrollo del Proyecto”</a:t>
            </a:r>
          </a:p>
        </p:txBody>
      </p:sp>
      <p:sp>
        <p:nvSpPr>
          <p:cNvPr name="TextBox 17" id="17"/>
          <p:cNvSpPr txBox="true"/>
          <p:nvPr/>
        </p:nvSpPr>
        <p:spPr>
          <a:xfrm rot="0">
            <a:off x="11908911" y="5321157"/>
            <a:ext cx="5849917" cy="1465647"/>
          </a:xfrm>
          <a:prstGeom prst="rect">
            <a:avLst/>
          </a:prstGeom>
        </p:spPr>
        <p:txBody>
          <a:bodyPr anchor="t" rtlCol="false" tIns="0" lIns="0" bIns="0" rIns="0">
            <a:spAutoFit/>
          </a:bodyPr>
          <a:lstStyle/>
          <a:p>
            <a:pPr algn="l">
              <a:lnSpc>
                <a:spcPts val="3866"/>
              </a:lnSpc>
            </a:pPr>
            <a:r>
              <a:rPr lang="en-US" sz="3276">
                <a:solidFill>
                  <a:srgbClr val="000000"/>
                </a:solidFill>
                <a:latin typeface="Neue Einstellung"/>
                <a:ea typeface="Neue Einstellung"/>
                <a:cs typeface="Neue Einstellung"/>
                <a:sym typeface="Neue Einstellung"/>
              </a:rPr>
              <a:t>Pruebas finales y validaciones</a:t>
            </a:r>
          </a:p>
          <a:p>
            <a:pPr algn="l">
              <a:lnSpc>
                <a:spcPts val="3866"/>
              </a:lnSpc>
            </a:pPr>
          </a:p>
        </p:txBody>
      </p:sp>
      <p:sp>
        <p:nvSpPr>
          <p:cNvPr name="TextBox 18" id="18"/>
          <p:cNvSpPr txBox="true"/>
          <p:nvPr/>
        </p:nvSpPr>
        <p:spPr>
          <a:xfrm rot="0">
            <a:off x="11626348" y="6392478"/>
            <a:ext cx="5849917" cy="494097"/>
          </a:xfrm>
          <a:prstGeom prst="rect">
            <a:avLst/>
          </a:prstGeom>
        </p:spPr>
        <p:txBody>
          <a:bodyPr anchor="t" rtlCol="false" tIns="0" lIns="0" bIns="0" rIns="0">
            <a:spAutoFit/>
          </a:bodyPr>
          <a:lstStyle/>
          <a:p>
            <a:pPr algn="l" marL="707355" indent="-353677" lvl="1">
              <a:lnSpc>
                <a:spcPts val="3866"/>
              </a:lnSpc>
              <a:buFont typeface="Arial"/>
              <a:buChar char="•"/>
            </a:pPr>
            <a:r>
              <a:rPr lang="en-US" sz="3276">
                <a:solidFill>
                  <a:srgbClr val="000000"/>
                </a:solidFill>
                <a:latin typeface="Neue Einstellung"/>
                <a:ea typeface="Neue Einstellung"/>
                <a:cs typeface="Neue Einstellung"/>
                <a:sym typeface="Neue Einstellung"/>
              </a:rPr>
              <a:t>Puesta en Marcha</a:t>
            </a:r>
          </a:p>
        </p:txBody>
      </p:sp>
    </p:spTree>
  </p:cSld>
  <p:clrMapOvr>
    <a:masterClrMapping/>
  </p:clrMapOvr>
  <p:transition spd="fast">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88C440"/>
        </a:solidFill>
      </p:bgPr>
    </p:bg>
    <p:spTree>
      <p:nvGrpSpPr>
        <p:cNvPr id="1" name=""/>
        <p:cNvGrpSpPr/>
        <p:nvPr/>
      </p:nvGrpSpPr>
      <p:grpSpPr>
        <a:xfrm>
          <a:off x="0" y="0"/>
          <a:ext cx="0" cy="0"/>
          <a:chOff x="0" y="0"/>
          <a:chExt cx="0" cy="0"/>
        </a:xfrm>
      </p:grpSpPr>
      <p:sp>
        <p:nvSpPr>
          <p:cNvPr name="Freeform 2" id="2"/>
          <p:cNvSpPr/>
          <p:nvPr/>
        </p:nvSpPr>
        <p:spPr>
          <a:xfrm flipH="true" flipV="true" rot="2700000">
            <a:off x="14181" y="2911298"/>
            <a:ext cx="18259639" cy="18259639"/>
          </a:xfrm>
          <a:custGeom>
            <a:avLst/>
            <a:gdLst/>
            <a:ahLst/>
            <a:cxnLst/>
            <a:rect r="r" b="b" t="t" l="l"/>
            <a:pathLst>
              <a:path h="18259639" w="18259639">
                <a:moveTo>
                  <a:pt x="18259638" y="18259639"/>
                </a:moveTo>
                <a:lnTo>
                  <a:pt x="0" y="18259639"/>
                </a:lnTo>
                <a:lnTo>
                  <a:pt x="0" y="0"/>
                </a:lnTo>
                <a:lnTo>
                  <a:pt x="18259638" y="0"/>
                </a:lnTo>
                <a:lnTo>
                  <a:pt x="18259638" y="1825963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254872" y="6374866"/>
            <a:ext cx="4033128" cy="3912134"/>
          </a:xfrm>
          <a:custGeom>
            <a:avLst/>
            <a:gdLst/>
            <a:ahLst/>
            <a:cxnLst/>
            <a:rect r="r" b="b" t="t" l="l"/>
            <a:pathLst>
              <a:path h="3912134" w="4033128">
                <a:moveTo>
                  <a:pt x="0" y="0"/>
                </a:moveTo>
                <a:lnTo>
                  <a:pt x="4033128" y="0"/>
                </a:lnTo>
                <a:lnTo>
                  <a:pt x="4033128" y="3912134"/>
                </a:lnTo>
                <a:lnTo>
                  <a:pt x="0" y="3912134"/>
                </a:lnTo>
                <a:lnTo>
                  <a:pt x="0" y="0"/>
                </a:lnTo>
                <a:close/>
              </a:path>
            </a:pathLst>
          </a:custGeom>
          <a:blipFill>
            <a:blip r:embed="rId4"/>
            <a:stretch>
              <a:fillRect l="0" t="0" r="0" b="0"/>
            </a:stretch>
          </a:blipFill>
        </p:spPr>
      </p:sp>
      <p:sp>
        <p:nvSpPr>
          <p:cNvPr name="TextBox 4" id="4"/>
          <p:cNvSpPr txBox="true"/>
          <p:nvPr/>
        </p:nvSpPr>
        <p:spPr>
          <a:xfrm rot="0">
            <a:off x="2113761" y="854934"/>
            <a:ext cx="13428492" cy="1077875"/>
          </a:xfrm>
          <a:prstGeom prst="rect">
            <a:avLst/>
          </a:prstGeom>
        </p:spPr>
        <p:txBody>
          <a:bodyPr anchor="t" rtlCol="false" tIns="0" lIns="0" bIns="0" rIns="0">
            <a:spAutoFit/>
          </a:bodyPr>
          <a:lstStyle/>
          <a:p>
            <a:pPr algn="ctr" marL="0" indent="0" lvl="0">
              <a:lnSpc>
                <a:spcPts val="9357"/>
              </a:lnSpc>
              <a:spcBef>
                <a:spcPct val="0"/>
              </a:spcBef>
            </a:pPr>
            <a:r>
              <a:rPr lang="en-US" sz="5058">
                <a:solidFill>
                  <a:srgbClr val="775E55"/>
                </a:solidFill>
                <a:latin typeface="TAN Songbird"/>
                <a:ea typeface="TAN Songbird"/>
                <a:cs typeface="TAN Songbird"/>
                <a:sym typeface="TAN Songbird"/>
              </a:rPr>
              <a:t>Tecnologias Utilizadas</a:t>
            </a:r>
          </a:p>
        </p:txBody>
      </p:sp>
      <p:sp>
        <p:nvSpPr>
          <p:cNvPr name="Freeform 5" id="5"/>
          <p:cNvSpPr/>
          <p:nvPr/>
        </p:nvSpPr>
        <p:spPr>
          <a:xfrm flipH="false" flipV="false" rot="0">
            <a:off x="2123286" y="3294443"/>
            <a:ext cx="2288172" cy="1372903"/>
          </a:xfrm>
          <a:custGeom>
            <a:avLst/>
            <a:gdLst/>
            <a:ahLst/>
            <a:cxnLst/>
            <a:rect r="r" b="b" t="t" l="l"/>
            <a:pathLst>
              <a:path h="1372903" w="2288172">
                <a:moveTo>
                  <a:pt x="0" y="0"/>
                </a:moveTo>
                <a:lnTo>
                  <a:pt x="2288172" y="0"/>
                </a:lnTo>
                <a:lnTo>
                  <a:pt x="2288172" y="1372903"/>
                </a:lnTo>
                <a:lnTo>
                  <a:pt x="0" y="1372903"/>
                </a:lnTo>
                <a:lnTo>
                  <a:pt x="0" y="0"/>
                </a:lnTo>
                <a:close/>
              </a:path>
            </a:pathLst>
          </a:custGeom>
          <a:blipFill>
            <a:blip r:embed="rId5"/>
            <a:stretch>
              <a:fillRect l="0" t="0" r="0" b="0"/>
            </a:stretch>
          </a:blipFill>
        </p:spPr>
      </p:sp>
      <p:sp>
        <p:nvSpPr>
          <p:cNvPr name="Freeform 6" id="6"/>
          <p:cNvSpPr/>
          <p:nvPr/>
        </p:nvSpPr>
        <p:spPr>
          <a:xfrm flipH="false" flipV="false" rot="0">
            <a:off x="2123286" y="4937651"/>
            <a:ext cx="1912713" cy="1912713"/>
          </a:xfrm>
          <a:custGeom>
            <a:avLst/>
            <a:gdLst/>
            <a:ahLst/>
            <a:cxnLst/>
            <a:rect r="r" b="b" t="t" l="l"/>
            <a:pathLst>
              <a:path h="1912713" w="1912713">
                <a:moveTo>
                  <a:pt x="0" y="0"/>
                </a:moveTo>
                <a:lnTo>
                  <a:pt x="1912712" y="0"/>
                </a:lnTo>
                <a:lnTo>
                  <a:pt x="1912712" y="1912713"/>
                </a:lnTo>
                <a:lnTo>
                  <a:pt x="0" y="1912713"/>
                </a:lnTo>
                <a:lnTo>
                  <a:pt x="0" y="0"/>
                </a:lnTo>
                <a:close/>
              </a:path>
            </a:pathLst>
          </a:custGeom>
          <a:blipFill>
            <a:blip r:embed="rId6"/>
            <a:stretch>
              <a:fillRect l="0" t="0" r="0" b="0"/>
            </a:stretch>
          </a:blipFill>
        </p:spPr>
      </p:sp>
      <p:sp>
        <p:nvSpPr>
          <p:cNvPr name="Freeform 7" id="7"/>
          <p:cNvSpPr/>
          <p:nvPr/>
        </p:nvSpPr>
        <p:spPr>
          <a:xfrm flipH="false" flipV="false" rot="0">
            <a:off x="4950554" y="4421822"/>
            <a:ext cx="2843100" cy="2843100"/>
          </a:xfrm>
          <a:custGeom>
            <a:avLst/>
            <a:gdLst/>
            <a:ahLst/>
            <a:cxnLst/>
            <a:rect r="r" b="b" t="t" l="l"/>
            <a:pathLst>
              <a:path h="2843100" w="2843100">
                <a:moveTo>
                  <a:pt x="0" y="0"/>
                </a:moveTo>
                <a:lnTo>
                  <a:pt x="2843100" y="0"/>
                </a:lnTo>
                <a:lnTo>
                  <a:pt x="2843100" y="2843100"/>
                </a:lnTo>
                <a:lnTo>
                  <a:pt x="0" y="2843100"/>
                </a:lnTo>
                <a:lnTo>
                  <a:pt x="0" y="0"/>
                </a:lnTo>
                <a:close/>
              </a:path>
            </a:pathLst>
          </a:custGeom>
          <a:blipFill>
            <a:blip r:embed="rId7"/>
            <a:stretch>
              <a:fillRect l="0" t="0" r="0" b="0"/>
            </a:stretch>
          </a:blipFill>
        </p:spPr>
      </p:sp>
      <p:sp>
        <p:nvSpPr>
          <p:cNvPr name="Freeform 8" id="8"/>
          <p:cNvSpPr/>
          <p:nvPr/>
        </p:nvSpPr>
        <p:spPr>
          <a:xfrm flipH="false" flipV="false" rot="0">
            <a:off x="8165090" y="4681477"/>
            <a:ext cx="3578200" cy="2351020"/>
          </a:xfrm>
          <a:custGeom>
            <a:avLst/>
            <a:gdLst/>
            <a:ahLst/>
            <a:cxnLst/>
            <a:rect r="r" b="b" t="t" l="l"/>
            <a:pathLst>
              <a:path h="2351020" w="3578200">
                <a:moveTo>
                  <a:pt x="0" y="0"/>
                </a:moveTo>
                <a:lnTo>
                  <a:pt x="3578200" y="0"/>
                </a:lnTo>
                <a:lnTo>
                  <a:pt x="3578200" y="2351019"/>
                </a:lnTo>
                <a:lnTo>
                  <a:pt x="0" y="2351019"/>
                </a:lnTo>
                <a:lnTo>
                  <a:pt x="0" y="0"/>
                </a:lnTo>
                <a:close/>
              </a:path>
            </a:pathLst>
          </a:custGeom>
          <a:blipFill>
            <a:blip r:embed="rId8"/>
            <a:stretch>
              <a:fillRect l="0" t="0" r="0" b="0"/>
            </a:stretch>
          </a:blipFill>
        </p:spPr>
      </p:sp>
      <p:sp>
        <p:nvSpPr>
          <p:cNvPr name="Freeform 9" id="9"/>
          <p:cNvSpPr/>
          <p:nvPr/>
        </p:nvSpPr>
        <p:spPr>
          <a:xfrm flipH="false" flipV="false" rot="0">
            <a:off x="8165090" y="7264922"/>
            <a:ext cx="3524133" cy="1723641"/>
          </a:xfrm>
          <a:custGeom>
            <a:avLst/>
            <a:gdLst/>
            <a:ahLst/>
            <a:cxnLst/>
            <a:rect r="r" b="b" t="t" l="l"/>
            <a:pathLst>
              <a:path h="1723641" w="3524133">
                <a:moveTo>
                  <a:pt x="0" y="0"/>
                </a:moveTo>
                <a:lnTo>
                  <a:pt x="3524132" y="0"/>
                </a:lnTo>
                <a:lnTo>
                  <a:pt x="3524132" y="1723641"/>
                </a:lnTo>
                <a:lnTo>
                  <a:pt x="0" y="1723641"/>
                </a:lnTo>
                <a:lnTo>
                  <a:pt x="0" y="0"/>
                </a:lnTo>
                <a:close/>
              </a:path>
            </a:pathLst>
          </a:custGeom>
          <a:blipFill>
            <a:blip r:embed="rId9"/>
            <a:stretch>
              <a:fillRect l="0" t="0" r="0" b="0"/>
            </a:stretch>
          </a:blipFill>
        </p:spPr>
      </p:sp>
      <p:sp>
        <p:nvSpPr>
          <p:cNvPr name="Freeform 10" id="10"/>
          <p:cNvSpPr/>
          <p:nvPr/>
        </p:nvSpPr>
        <p:spPr>
          <a:xfrm flipH="false" flipV="false" rot="0">
            <a:off x="12375019" y="4727870"/>
            <a:ext cx="4975547" cy="1492664"/>
          </a:xfrm>
          <a:custGeom>
            <a:avLst/>
            <a:gdLst/>
            <a:ahLst/>
            <a:cxnLst/>
            <a:rect r="r" b="b" t="t" l="l"/>
            <a:pathLst>
              <a:path h="1492664" w="4975547">
                <a:moveTo>
                  <a:pt x="0" y="0"/>
                </a:moveTo>
                <a:lnTo>
                  <a:pt x="4975547" y="0"/>
                </a:lnTo>
                <a:lnTo>
                  <a:pt x="4975547" y="1492664"/>
                </a:lnTo>
                <a:lnTo>
                  <a:pt x="0" y="1492664"/>
                </a:lnTo>
                <a:lnTo>
                  <a:pt x="0" y="0"/>
                </a:lnTo>
                <a:close/>
              </a:path>
            </a:pathLst>
          </a:custGeom>
          <a:blipFill>
            <a:blip r:embed="rId10"/>
            <a:stretch>
              <a:fillRect l="0" t="0" r="0" b="0"/>
            </a:stretch>
          </a:blipFill>
        </p:spPr>
      </p:sp>
      <p:sp>
        <p:nvSpPr>
          <p:cNvPr name="Freeform 11" id="11"/>
          <p:cNvSpPr/>
          <p:nvPr/>
        </p:nvSpPr>
        <p:spPr>
          <a:xfrm flipH="false" flipV="false" rot="0">
            <a:off x="885915" y="296140"/>
            <a:ext cx="1474733" cy="1368540"/>
          </a:xfrm>
          <a:custGeom>
            <a:avLst/>
            <a:gdLst/>
            <a:ahLst/>
            <a:cxnLst/>
            <a:rect r="r" b="b" t="t" l="l"/>
            <a:pathLst>
              <a:path h="1368540" w="1474733">
                <a:moveTo>
                  <a:pt x="0" y="0"/>
                </a:moveTo>
                <a:lnTo>
                  <a:pt x="1474733" y="0"/>
                </a:lnTo>
                <a:lnTo>
                  <a:pt x="1474733" y="1368540"/>
                </a:lnTo>
                <a:lnTo>
                  <a:pt x="0" y="1368540"/>
                </a:lnTo>
                <a:lnTo>
                  <a:pt x="0" y="0"/>
                </a:lnTo>
                <a:close/>
              </a:path>
            </a:pathLst>
          </a:custGeom>
          <a:blipFill>
            <a:blip r:embed="rId11"/>
            <a:stretch>
              <a:fillRect l="0" t="0" r="0" b="-889"/>
            </a:stretch>
          </a:blipFill>
        </p:spPr>
      </p:sp>
      <p:sp>
        <p:nvSpPr>
          <p:cNvPr name="Freeform 12" id="12"/>
          <p:cNvSpPr/>
          <p:nvPr/>
        </p:nvSpPr>
        <p:spPr>
          <a:xfrm flipH="false" flipV="false" rot="0">
            <a:off x="15267569" y="329573"/>
            <a:ext cx="1466270" cy="1301675"/>
          </a:xfrm>
          <a:custGeom>
            <a:avLst/>
            <a:gdLst/>
            <a:ahLst/>
            <a:cxnLst/>
            <a:rect r="r" b="b" t="t" l="l"/>
            <a:pathLst>
              <a:path h="1301675" w="1466270">
                <a:moveTo>
                  <a:pt x="0" y="0"/>
                </a:moveTo>
                <a:lnTo>
                  <a:pt x="1466270" y="0"/>
                </a:lnTo>
                <a:lnTo>
                  <a:pt x="1466270" y="1301675"/>
                </a:lnTo>
                <a:lnTo>
                  <a:pt x="0" y="1301675"/>
                </a:lnTo>
                <a:lnTo>
                  <a:pt x="0" y="0"/>
                </a:lnTo>
                <a:close/>
              </a:path>
            </a:pathLst>
          </a:custGeom>
          <a:blipFill>
            <a:blip r:embed="rId11"/>
            <a:stretch>
              <a:fillRect l="0" t="0" r="0" b="-5463"/>
            </a:stretch>
          </a:blipFill>
        </p:spPr>
      </p:sp>
      <p:sp>
        <p:nvSpPr>
          <p:cNvPr name="Freeform 13" id="13"/>
          <p:cNvSpPr/>
          <p:nvPr/>
        </p:nvSpPr>
        <p:spPr>
          <a:xfrm flipH="false" flipV="false" rot="0">
            <a:off x="2123286" y="7259939"/>
            <a:ext cx="2071970" cy="1990677"/>
          </a:xfrm>
          <a:custGeom>
            <a:avLst/>
            <a:gdLst/>
            <a:ahLst/>
            <a:cxnLst/>
            <a:rect r="r" b="b" t="t" l="l"/>
            <a:pathLst>
              <a:path h="1990677" w="2071970">
                <a:moveTo>
                  <a:pt x="0" y="0"/>
                </a:moveTo>
                <a:lnTo>
                  <a:pt x="2071969" y="0"/>
                </a:lnTo>
                <a:lnTo>
                  <a:pt x="2071969" y="1990677"/>
                </a:lnTo>
                <a:lnTo>
                  <a:pt x="0" y="1990677"/>
                </a:lnTo>
                <a:lnTo>
                  <a:pt x="0" y="0"/>
                </a:lnTo>
                <a:close/>
              </a:path>
            </a:pathLst>
          </a:custGeom>
          <a:blipFill>
            <a:blip r:embed="rId12"/>
            <a:stretch>
              <a:fillRect l="-5495" t="-45767" r="-236689" b="-32311"/>
            </a:stretch>
          </a:blipFill>
        </p:spPr>
      </p:sp>
      <p:sp>
        <p:nvSpPr>
          <p:cNvPr name="TextBox 14" id="14"/>
          <p:cNvSpPr txBox="true"/>
          <p:nvPr/>
        </p:nvSpPr>
        <p:spPr>
          <a:xfrm rot="0">
            <a:off x="174251" y="3308171"/>
            <a:ext cx="1708898" cy="556896"/>
          </a:xfrm>
          <a:prstGeom prst="rect">
            <a:avLst/>
          </a:prstGeom>
        </p:spPr>
        <p:txBody>
          <a:bodyPr anchor="t" rtlCol="false" tIns="0" lIns="0" bIns="0" rIns="0">
            <a:spAutoFit/>
          </a:bodyPr>
          <a:lstStyle/>
          <a:p>
            <a:pPr algn="ctr" marL="0" indent="0" lvl="0">
              <a:lnSpc>
                <a:spcPts val="4809"/>
              </a:lnSpc>
              <a:spcBef>
                <a:spcPct val="0"/>
              </a:spcBef>
            </a:pPr>
            <a:r>
              <a:rPr lang="en-US" sz="2599" strike="noStrike" u="none">
                <a:solidFill>
                  <a:srgbClr val="775E55"/>
                </a:solidFill>
                <a:latin typeface="TAN Songbird"/>
                <a:ea typeface="TAN Songbird"/>
                <a:cs typeface="TAN Songbird"/>
                <a:sym typeface="TAN Songbird"/>
              </a:rPr>
              <a:t>Cloud</a:t>
            </a:r>
          </a:p>
        </p:txBody>
      </p:sp>
      <p:sp>
        <p:nvSpPr>
          <p:cNvPr name="TextBox 15" id="15"/>
          <p:cNvSpPr txBox="true"/>
          <p:nvPr/>
        </p:nvSpPr>
        <p:spPr>
          <a:xfrm rot="0">
            <a:off x="4817244" y="3113699"/>
            <a:ext cx="3109721" cy="1166496"/>
          </a:xfrm>
          <a:prstGeom prst="rect">
            <a:avLst/>
          </a:prstGeom>
        </p:spPr>
        <p:txBody>
          <a:bodyPr anchor="t" rtlCol="false" tIns="0" lIns="0" bIns="0" rIns="0">
            <a:spAutoFit/>
          </a:bodyPr>
          <a:lstStyle/>
          <a:p>
            <a:pPr algn="ctr" marL="0" indent="0" lvl="0">
              <a:lnSpc>
                <a:spcPts val="4809"/>
              </a:lnSpc>
              <a:spcBef>
                <a:spcPct val="0"/>
              </a:spcBef>
            </a:pPr>
            <a:r>
              <a:rPr lang="en-US" sz="2599" strike="noStrike" u="none">
                <a:solidFill>
                  <a:srgbClr val="775E55"/>
                </a:solidFill>
                <a:latin typeface="TAN Songbird"/>
                <a:ea typeface="TAN Songbird"/>
                <a:cs typeface="TAN Songbird"/>
                <a:sym typeface="TAN Songbird"/>
              </a:rPr>
              <a:t>Base De Datos</a:t>
            </a:r>
          </a:p>
        </p:txBody>
      </p:sp>
      <p:sp>
        <p:nvSpPr>
          <p:cNvPr name="TextBox 16" id="16"/>
          <p:cNvSpPr txBox="true"/>
          <p:nvPr/>
        </p:nvSpPr>
        <p:spPr>
          <a:xfrm rot="0">
            <a:off x="8165090" y="3113699"/>
            <a:ext cx="3359388" cy="1166496"/>
          </a:xfrm>
          <a:prstGeom prst="rect">
            <a:avLst/>
          </a:prstGeom>
        </p:spPr>
        <p:txBody>
          <a:bodyPr anchor="t" rtlCol="false" tIns="0" lIns="0" bIns="0" rIns="0">
            <a:spAutoFit/>
          </a:bodyPr>
          <a:lstStyle/>
          <a:p>
            <a:pPr algn="ctr" marL="0" indent="0" lvl="0">
              <a:lnSpc>
                <a:spcPts val="4809"/>
              </a:lnSpc>
              <a:spcBef>
                <a:spcPct val="0"/>
              </a:spcBef>
            </a:pPr>
            <a:r>
              <a:rPr lang="en-US" sz="2599" strike="noStrike" u="none">
                <a:solidFill>
                  <a:srgbClr val="775E55"/>
                </a:solidFill>
                <a:latin typeface="TAN Songbird"/>
                <a:ea typeface="TAN Songbird"/>
                <a:cs typeface="TAN Songbird"/>
                <a:sym typeface="TAN Songbird"/>
              </a:rPr>
              <a:t>Aplicación FullStack</a:t>
            </a:r>
          </a:p>
        </p:txBody>
      </p:sp>
      <p:sp>
        <p:nvSpPr>
          <p:cNvPr name="TextBox 17" id="17"/>
          <p:cNvSpPr txBox="true"/>
          <p:nvPr/>
        </p:nvSpPr>
        <p:spPr>
          <a:xfrm rot="0">
            <a:off x="12375019" y="3113699"/>
            <a:ext cx="4594228" cy="1166496"/>
          </a:xfrm>
          <a:prstGeom prst="rect">
            <a:avLst/>
          </a:prstGeom>
        </p:spPr>
        <p:txBody>
          <a:bodyPr anchor="t" rtlCol="false" tIns="0" lIns="0" bIns="0" rIns="0">
            <a:spAutoFit/>
          </a:bodyPr>
          <a:lstStyle/>
          <a:p>
            <a:pPr algn="ctr" marL="0" indent="0" lvl="0">
              <a:lnSpc>
                <a:spcPts val="4809"/>
              </a:lnSpc>
              <a:spcBef>
                <a:spcPct val="0"/>
              </a:spcBef>
            </a:pPr>
            <a:r>
              <a:rPr lang="en-US" sz="2599" strike="noStrike" u="none">
                <a:solidFill>
                  <a:srgbClr val="775E55"/>
                </a:solidFill>
                <a:latin typeface="TAN Songbird"/>
                <a:ea typeface="TAN Songbird"/>
                <a:cs typeface="TAN Songbird"/>
                <a:sym typeface="TAN Songbird"/>
              </a:rPr>
              <a:t>Pasarela de pago</a:t>
            </a:r>
          </a:p>
        </p:txBody>
      </p:sp>
      <p:sp>
        <p:nvSpPr>
          <p:cNvPr name="TextBox 18" id="18"/>
          <p:cNvSpPr txBox="true"/>
          <p:nvPr/>
        </p:nvSpPr>
        <p:spPr>
          <a:xfrm rot="0">
            <a:off x="623519" y="2075684"/>
            <a:ext cx="17003183" cy="542484"/>
          </a:xfrm>
          <a:prstGeom prst="rect">
            <a:avLst/>
          </a:prstGeom>
        </p:spPr>
        <p:txBody>
          <a:bodyPr anchor="t" rtlCol="false" tIns="0" lIns="0" bIns="0" rIns="0">
            <a:spAutoFit/>
          </a:bodyPr>
          <a:lstStyle/>
          <a:p>
            <a:pPr algn="l">
              <a:lnSpc>
                <a:spcPts val="4220"/>
              </a:lnSpc>
            </a:pPr>
            <a:r>
              <a:rPr lang="en-US" sz="3576">
                <a:solidFill>
                  <a:srgbClr val="000000"/>
                </a:solidFill>
                <a:latin typeface="Neue Einstellung"/>
                <a:ea typeface="Neue Einstellung"/>
                <a:cs typeface="Neue Einstellung"/>
                <a:sym typeface="Neue Einstellung"/>
              </a:rPr>
              <a:t>Tecnologías implementadas en el desarrollo de la aplicación móvil PetMatch.</a:t>
            </a:r>
          </a:p>
        </p:txBody>
      </p:sp>
    </p:spTree>
  </p:cSld>
  <p:clrMapOvr>
    <a:masterClrMapping/>
  </p:clrMapOvr>
  <p:transition spd="fast">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743F"/>
        </a:solidFill>
      </p:bgPr>
    </p:bg>
    <p:spTree>
      <p:nvGrpSpPr>
        <p:cNvPr id="1" name=""/>
        <p:cNvGrpSpPr/>
        <p:nvPr/>
      </p:nvGrpSpPr>
      <p:grpSpPr>
        <a:xfrm>
          <a:off x="0" y="0"/>
          <a:ext cx="0" cy="0"/>
          <a:chOff x="0" y="0"/>
          <a:chExt cx="0" cy="0"/>
        </a:xfrm>
      </p:grpSpPr>
      <p:sp>
        <p:nvSpPr>
          <p:cNvPr name="Freeform 2" id="2"/>
          <p:cNvSpPr/>
          <p:nvPr/>
        </p:nvSpPr>
        <p:spPr>
          <a:xfrm flipH="false" flipV="false" rot="1683035">
            <a:off x="250110" y="45557"/>
            <a:ext cx="1549602" cy="1450815"/>
          </a:xfrm>
          <a:custGeom>
            <a:avLst/>
            <a:gdLst/>
            <a:ahLst/>
            <a:cxnLst/>
            <a:rect r="r" b="b" t="t" l="l"/>
            <a:pathLst>
              <a:path h="1450815" w="1549602">
                <a:moveTo>
                  <a:pt x="0" y="0"/>
                </a:moveTo>
                <a:lnTo>
                  <a:pt x="1549602" y="0"/>
                </a:lnTo>
                <a:lnTo>
                  <a:pt x="1549602" y="1450815"/>
                </a:lnTo>
                <a:lnTo>
                  <a:pt x="0" y="1450815"/>
                </a:lnTo>
                <a:lnTo>
                  <a:pt x="0" y="0"/>
                </a:lnTo>
                <a:close/>
              </a:path>
            </a:pathLst>
          </a:custGeom>
          <a:blipFill>
            <a:blip r:embed="rId2"/>
            <a:stretch>
              <a:fillRect l="0" t="0" r="0" b="0"/>
            </a:stretch>
          </a:blipFill>
        </p:spPr>
      </p:sp>
      <p:sp>
        <p:nvSpPr>
          <p:cNvPr name="Freeform 3" id="3"/>
          <p:cNvSpPr/>
          <p:nvPr/>
        </p:nvSpPr>
        <p:spPr>
          <a:xfrm flipH="false" flipV="false" rot="0">
            <a:off x="578499" y="5143500"/>
            <a:ext cx="3449089" cy="4883666"/>
          </a:xfrm>
          <a:custGeom>
            <a:avLst/>
            <a:gdLst/>
            <a:ahLst/>
            <a:cxnLst/>
            <a:rect r="r" b="b" t="t" l="l"/>
            <a:pathLst>
              <a:path h="4883666" w="3449089">
                <a:moveTo>
                  <a:pt x="0" y="0"/>
                </a:moveTo>
                <a:lnTo>
                  <a:pt x="3449090" y="0"/>
                </a:lnTo>
                <a:lnTo>
                  <a:pt x="3449090" y="4883666"/>
                </a:lnTo>
                <a:lnTo>
                  <a:pt x="0" y="4883666"/>
                </a:lnTo>
                <a:lnTo>
                  <a:pt x="0" y="0"/>
                </a:lnTo>
                <a:close/>
              </a:path>
            </a:pathLst>
          </a:custGeom>
          <a:blipFill>
            <a:blip r:embed="rId3"/>
            <a:stretch>
              <a:fillRect l="0" t="0" r="0" b="0"/>
            </a:stretch>
          </a:blipFill>
        </p:spPr>
      </p:sp>
      <p:sp>
        <p:nvSpPr>
          <p:cNvPr name="Freeform 4" id="4"/>
          <p:cNvSpPr/>
          <p:nvPr/>
        </p:nvSpPr>
        <p:spPr>
          <a:xfrm flipH="false" flipV="false" rot="0">
            <a:off x="2105250" y="3010044"/>
            <a:ext cx="1656150" cy="2891690"/>
          </a:xfrm>
          <a:custGeom>
            <a:avLst/>
            <a:gdLst/>
            <a:ahLst/>
            <a:cxnLst/>
            <a:rect r="r" b="b" t="t" l="l"/>
            <a:pathLst>
              <a:path h="2891690" w="1656150">
                <a:moveTo>
                  <a:pt x="0" y="0"/>
                </a:moveTo>
                <a:lnTo>
                  <a:pt x="1656150" y="0"/>
                </a:lnTo>
                <a:lnTo>
                  <a:pt x="1656150" y="2891690"/>
                </a:lnTo>
                <a:lnTo>
                  <a:pt x="0" y="2891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406894">
            <a:off x="8722767" y="430636"/>
            <a:ext cx="1195361" cy="938359"/>
          </a:xfrm>
          <a:custGeom>
            <a:avLst/>
            <a:gdLst/>
            <a:ahLst/>
            <a:cxnLst/>
            <a:rect r="r" b="b" t="t" l="l"/>
            <a:pathLst>
              <a:path h="938359" w="1195361">
                <a:moveTo>
                  <a:pt x="0" y="0"/>
                </a:moveTo>
                <a:lnTo>
                  <a:pt x="1195362" y="0"/>
                </a:lnTo>
                <a:lnTo>
                  <a:pt x="1195362" y="938359"/>
                </a:lnTo>
                <a:lnTo>
                  <a:pt x="0" y="938359"/>
                </a:lnTo>
                <a:lnTo>
                  <a:pt x="0" y="0"/>
                </a:lnTo>
                <a:close/>
              </a:path>
            </a:pathLst>
          </a:custGeom>
          <a:blipFill>
            <a:blip r:embed="rId6"/>
            <a:stretch>
              <a:fillRect l="0" t="0" r="0" b="0"/>
            </a:stretch>
          </a:blipFill>
        </p:spPr>
      </p:sp>
      <p:sp>
        <p:nvSpPr>
          <p:cNvPr name="Freeform 6" id="6"/>
          <p:cNvSpPr/>
          <p:nvPr/>
        </p:nvSpPr>
        <p:spPr>
          <a:xfrm flipH="false" flipV="false" rot="0">
            <a:off x="7111422" y="1568079"/>
            <a:ext cx="10683176" cy="8667310"/>
          </a:xfrm>
          <a:custGeom>
            <a:avLst/>
            <a:gdLst/>
            <a:ahLst/>
            <a:cxnLst/>
            <a:rect r="r" b="b" t="t" l="l"/>
            <a:pathLst>
              <a:path h="8667310" w="10683176">
                <a:moveTo>
                  <a:pt x="0" y="0"/>
                </a:moveTo>
                <a:lnTo>
                  <a:pt x="10683176" y="0"/>
                </a:lnTo>
                <a:lnTo>
                  <a:pt x="10683176" y="8667310"/>
                </a:lnTo>
                <a:lnTo>
                  <a:pt x="0" y="8667310"/>
                </a:lnTo>
                <a:lnTo>
                  <a:pt x="0" y="0"/>
                </a:lnTo>
                <a:close/>
              </a:path>
            </a:pathLst>
          </a:custGeom>
          <a:blipFill>
            <a:blip r:embed="rId7"/>
            <a:stretch>
              <a:fillRect l="-11982" t="0" r="-895" b="0"/>
            </a:stretch>
          </a:blipFill>
        </p:spPr>
      </p:sp>
      <p:sp>
        <p:nvSpPr>
          <p:cNvPr name="TextBox 7" id="7"/>
          <p:cNvSpPr txBox="true"/>
          <p:nvPr/>
        </p:nvSpPr>
        <p:spPr>
          <a:xfrm rot="0">
            <a:off x="-1560413" y="432296"/>
            <a:ext cx="13428492" cy="926108"/>
          </a:xfrm>
          <a:prstGeom prst="rect">
            <a:avLst/>
          </a:prstGeom>
        </p:spPr>
        <p:txBody>
          <a:bodyPr anchor="t" rtlCol="false" tIns="0" lIns="0" bIns="0" rIns="0">
            <a:spAutoFit/>
          </a:bodyPr>
          <a:lstStyle/>
          <a:p>
            <a:pPr algn="ctr" marL="0" indent="0" lvl="0">
              <a:lnSpc>
                <a:spcPts val="8062"/>
              </a:lnSpc>
              <a:spcBef>
                <a:spcPct val="0"/>
              </a:spcBef>
            </a:pPr>
            <a:r>
              <a:rPr lang="en-US" sz="4358">
                <a:solidFill>
                  <a:srgbClr val="80AE41"/>
                </a:solidFill>
                <a:latin typeface="TAN Songbird"/>
                <a:ea typeface="TAN Songbird"/>
                <a:cs typeface="TAN Songbird"/>
                <a:sym typeface="TAN Songbird"/>
              </a:rPr>
              <a:t>Arquitectura</a:t>
            </a:r>
          </a:p>
        </p:txBody>
      </p:sp>
    </p:spTree>
  </p:cSld>
  <p:clrMapOvr>
    <a:masterClrMapping/>
  </p:clrMapOvr>
  <p:transition spd="fast">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743F"/>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42930" y="0"/>
                  </a:moveTo>
                  <a:lnTo>
                    <a:pt x="4231796" y="0"/>
                  </a:lnTo>
                  <a:cubicBezTo>
                    <a:pt x="4255506" y="0"/>
                    <a:pt x="4274726" y="19220"/>
                    <a:pt x="4274726" y="42930"/>
                  </a:cubicBezTo>
                  <a:lnTo>
                    <a:pt x="4274726" y="2124537"/>
                  </a:lnTo>
                  <a:cubicBezTo>
                    <a:pt x="4274726" y="2148247"/>
                    <a:pt x="4255506" y="2167467"/>
                    <a:pt x="4231796" y="2167467"/>
                  </a:cubicBezTo>
                  <a:lnTo>
                    <a:pt x="42930" y="2167467"/>
                  </a:lnTo>
                  <a:cubicBezTo>
                    <a:pt x="31544" y="2167467"/>
                    <a:pt x="20625" y="2162944"/>
                    <a:pt x="12574" y="2154893"/>
                  </a:cubicBezTo>
                  <a:cubicBezTo>
                    <a:pt x="4523" y="2146842"/>
                    <a:pt x="0" y="2135923"/>
                    <a:pt x="0" y="2124537"/>
                  </a:cubicBezTo>
                  <a:lnTo>
                    <a:pt x="0" y="42930"/>
                  </a:lnTo>
                  <a:cubicBezTo>
                    <a:pt x="0" y="31544"/>
                    <a:pt x="4523" y="20625"/>
                    <a:pt x="12574" y="12574"/>
                  </a:cubicBezTo>
                  <a:cubicBezTo>
                    <a:pt x="20625" y="4523"/>
                    <a:pt x="31544" y="0"/>
                    <a:pt x="42930" y="0"/>
                  </a:cubicBezTo>
                  <a:close/>
                </a:path>
              </a:pathLst>
            </a:custGeom>
            <a:solidFill>
              <a:srgbClr val="FFEDD4"/>
            </a:solidFill>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4082768" y="2675642"/>
            <a:ext cx="11835859" cy="4019569"/>
          </a:xfrm>
          <a:prstGeom prst="rect">
            <a:avLst/>
          </a:prstGeom>
        </p:spPr>
        <p:txBody>
          <a:bodyPr anchor="t" rtlCol="false" tIns="0" lIns="0" bIns="0" rIns="0">
            <a:spAutoFit/>
          </a:bodyPr>
          <a:lstStyle/>
          <a:p>
            <a:pPr algn="ctr" marL="0" indent="0" lvl="0">
              <a:lnSpc>
                <a:spcPts val="16649"/>
              </a:lnSpc>
              <a:spcBef>
                <a:spcPct val="0"/>
              </a:spcBef>
            </a:pPr>
            <a:r>
              <a:rPr lang="en-US" sz="8999">
                <a:solidFill>
                  <a:srgbClr val="80AE41"/>
                </a:solidFill>
                <a:latin typeface="TAN Songbird"/>
                <a:ea typeface="TAN Songbird"/>
                <a:cs typeface="TAN Songbird"/>
                <a:sym typeface="TAN Songbird"/>
              </a:rPr>
              <a:t>Demo PetMatch</a:t>
            </a:r>
          </a:p>
        </p:txBody>
      </p:sp>
      <p:sp>
        <p:nvSpPr>
          <p:cNvPr name="Freeform 6" id="6"/>
          <p:cNvSpPr/>
          <p:nvPr/>
        </p:nvSpPr>
        <p:spPr>
          <a:xfrm flipH="false" flipV="false" rot="-1207822">
            <a:off x="14987733" y="418843"/>
            <a:ext cx="2919132" cy="2733037"/>
          </a:xfrm>
          <a:custGeom>
            <a:avLst/>
            <a:gdLst/>
            <a:ahLst/>
            <a:cxnLst/>
            <a:rect r="r" b="b" t="t" l="l"/>
            <a:pathLst>
              <a:path h="2733037" w="2919132">
                <a:moveTo>
                  <a:pt x="0" y="0"/>
                </a:moveTo>
                <a:lnTo>
                  <a:pt x="2919131" y="0"/>
                </a:lnTo>
                <a:lnTo>
                  <a:pt x="2919131" y="2733037"/>
                </a:lnTo>
                <a:lnTo>
                  <a:pt x="0" y="2733037"/>
                </a:lnTo>
                <a:lnTo>
                  <a:pt x="0" y="0"/>
                </a:lnTo>
                <a:close/>
              </a:path>
            </a:pathLst>
          </a:custGeom>
          <a:blipFill>
            <a:blip r:embed="rId2"/>
            <a:stretch>
              <a:fillRect l="0" t="0" r="0" b="0"/>
            </a:stretch>
          </a:blipFill>
        </p:spPr>
      </p:sp>
      <p:sp>
        <p:nvSpPr>
          <p:cNvPr name="Freeform 7" id="7"/>
          <p:cNvSpPr/>
          <p:nvPr/>
        </p:nvSpPr>
        <p:spPr>
          <a:xfrm flipH="false" flipV="false" rot="0">
            <a:off x="-392259" y="2901870"/>
            <a:ext cx="4704524" cy="3716574"/>
          </a:xfrm>
          <a:custGeom>
            <a:avLst/>
            <a:gdLst/>
            <a:ahLst/>
            <a:cxnLst/>
            <a:rect r="r" b="b" t="t" l="l"/>
            <a:pathLst>
              <a:path h="3716574" w="4704524">
                <a:moveTo>
                  <a:pt x="0" y="0"/>
                </a:moveTo>
                <a:lnTo>
                  <a:pt x="4704524" y="0"/>
                </a:lnTo>
                <a:lnTo>
                  <a:pt x="4704524" y="3716574"/>
                </a:lnTo>
                <a:lnTo>
                  <a:pt x="0" y="3716574"/>
                </a:lnTo>
                <a:lnTo>
                  <a:pt x="0" y="0"/>
                </a:lnTo>
                <a:close/>
              </a:path>
            </a:pathLst>
          </a:custGeom>
          <a:blipFill>
            <a:blip r:embed="rId3"/>
            <a:stretch>
              <a:fillRect l="0" t="0" r="0" b="0"/>
            </a:stretch>
          </a:blipFill>
        </p:spPr>
      </p:sp>
      <p:sp>
        <p:nvSpPr>
          <p:cNvPr name="Freeform 8" id="8"/>
          <p:cNvSpPr/>
          <p:nvPr/>
        </p:nvSpPr>
        <p:spPr>
          <a:xfrm flipH="true" flipV="false" rot="0">
            <a:off x="1494177" y="5933365"/>
            <a:ext cx="4617910" cy="3919451"/>
          </a:xfrm>
          <a:custGeom>
            <a:avLst/>
            <a:gdLst/>
            <a:ahLst/>
            <a:cxnLst/>
            <a:rect r="r" b="b" t="t" l="l"/>
            <a:pathLst>
              <a:path h="3919451" w="4617910">
                <a:moveTo>
                  <a:pt x="4617910" y="0"/>
                </a:moveTo>
                <a:lnTo>
                  <a:pt x="0" y="0"/>
                </a:lnTo>
                <a:lnTo>
                  <a:pt x="0" y="3919451"/>
                </a:lnTo>
                <a:lnTo>
                  <a:pt x="4617910" y="3919451"/>
                </a:lnTo>
                <a:lnTo>
                  <a:pt x="4617910" y="0"/>
                </a:lnTo>
                <a:close/>
              </a:path>
            </a:pathLst>
          </a:custGeom>
          <a:blipFill>
            <a:blip r:embed="rId4"/>
            <a:stretch>
              <a:fillRect l="0" t="0" r="0" b="0"/>
            </a:stretch>
          </a:blipFill>
        </p:spPr>
      </p:sp>
      <p:sp>
        <p:nvSpPr>
          <p:cNvPr name="Freeform 9" id="9"/>
          <p:cNvSpPr/>
          <p:nvPr/>
        </p:nvSpPr>
        <p:spPr>
          <a:xfrm flipH="false" flipV="false" rot="0">
            <a:off x="15273401" y="5554877"/>
            <a:ext cx="3014599" cy="2829955"/>
          </a:xfrm>
          <a:custGeom>
            <a:avLst/>
            <a:gdLst/>
            <a:ahLst/>
            <a:cxnLst/>
            <a:rect r="r" b="b" t="t" l="l"/>
            <a:pathLst>
              <a:path h="2829955" w="3014599">
                <a:moveTo>
                  <a:pt x="0" y="0"/>
                </a:moveTo>
                <a:lnTo>
                  <a:pt x="3014599" y="0"/>
                </a:lnTo>
                <a:lnTo>
                  <a:pt x="3014599" y="2829955"/>
                </a:lnTo>
                <a:lnTo>
                  <a:pt x="0" y="2829955"/>
                </a:lnTo>
                <a:lnTo>
                  <a:pt x="0" y="0"/>
                </a:lnTo>
                <a:close/>
              </a:path>
            </a:pathLst>
          </a:custGeom>
          <a:blipFill>
            <a:blip r:embed="rId5"/>
            <a:stretch>
              <a:fillRect l="0" t="0" r="0" b="0"/>
            </a:stretch>
          </a:blipFill>
        </p:spPr>
      </p:sp>
      <p:sp>
        <p:nvSpPr>
          <p:cNvPr name="Freeform 10" id="10"/>
          <p:cNvSpPr/>
          <p:nvPr/>
        </p:nvSpPr>
        <p:spPr>
          <a:xfrm flipH="false" flipV="false" rot="0">
            <a:off x="14077446" y="7400061"/>
            <a:ext cx="3470567" cy="2770144"/>
          </a:xfrm>
          <a:custGeom>
            <a:avLst/>
            <a:gdLst/>
            <a:ahLst/>
            <a:cxnLst/>
            <a:rect r="r" b="b" t="t" l="l"/>
            <a:pathLst>
              <a:path h="2770144" w="3470567">
                <a:moveTo>
                  <a:pt x="0" y="0"/>
                </a:moveTo>
                <a:lnTo>
                  <a:pt x="3470567" y="0"/>
                </a:lnTo>
                <a:lnTo>
                  <a:pt x="3470567" y="2770143"/>
                </a:lnTo>
                <a:lnTo>
                  <a:pt x="0" y="27701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680713">
            <a:off x="13175153" y="3179898"/>
            <a:ext cx="1804586" cy="1416600"/>
          </a:xfrm>
          <a:custGeom>
            <a:avLst/>
            <a:gdLst/>
            <a:ahLst/>
            <a:cxnLst/>
            <a:rect r="r" b="b" t="t" l="l"/>
            <a:pathLst>
              <a:path h="1416600" w="1804586">
                <a:moveTo>
                  <a:pt x="0" y="0"/>
                </a:moveTo>
                <a:lnTo>
                  <a:pt x="1804586" y="0"/>
                </a:lnTo>
                <a:lnTo>
                  <a:pt x="1804586" y="1416600"/>
                </a:lnTo>
                <a:lnTo>
                  <a:pt x="0" y="1416600"/>
                </a:lnTo>
                <a:lnTo>
                  <a:pt x="0" y="0"/>
                </a:lnTo>
                <a:close/>
              </a:path>
            </a:pathLst>
          </a:custGeom>
          <a:blipFill>
            <a:blip r:embed="rId8"/>
            <a:stretch>
              <a:fillRect l="0" t="0" r="0" b="0"/>
            </a:stretch>
          </a:blipFill>
          <a:ln cap="rnd">
            <a:noFill/>
            <a:prstDash val="solid"/>
            <a:round/>
          </a:ln>
        </p:spPr>
      </p:sp>
    </p:spTree>
  </p:cSld>
  <p:clrMapOvr>
    <a:masterClrMapping/>
  </p:clrMapOvr>
  <p:transition spd="fast">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743F"/>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1028700" y="591947"/>
            <a:ext cx="16082154" cy="9103106"/>
          </a:xfrm>
          <a:prstGeom prst="rect">
            <a:avLst/>
          </a:prstGeom>
        </p:spPr>
      </p:pic>
    </p:spTree>
  </p:cSld>
  <p:clrMapOvr>
    <a:masterClrMapping/>
  </p:clrMapOvr>
  <p:transition spd="fast">
    <p:push dir="l"/>
  </p:transition>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88C440"/>
        </a:solidFill>
      </p:bgPr>
    </p:bg>
    <p:spTree>
      <p:nvGrpSpPr>
        <p:cNvPr id="1" name=""/>
        <p:cNvGrpSpPr/>
        <p:nvPr/>
      </p:nvGrpSpPr>
      <p:grpSpPr>
        <a:xfrm>
          <a:off x="0" y="0"/>
          <a:ext cx="0" cy="0"/>
          <a:chOff x="0" y="0"/>
          <a:chExt cx="0" cy="0"/>
        </a:xfrm>
      </p:grpSpPr>
      <p:sp>
        <p:nvSpPr>
          <p:cNvPr name="Freeform 2" id="2"/>
          <p:cNvSpPr/>
          <p:nvPr/>
        </p:nvSpPr>
        <p:spPr>
          <a:xfrm flipH="true" flipV="true" rot="2700000">
            <a:off x="-255063" y="3525426"/>
            <a:ext cx="18259639" cy="18259639"/>
          </a:xfrm>
          <a:custGeom>
            <a:avLst/>
            <a:gdLst/>
            <a:ahLst/>
            <a:cxnLst/>
            <a:rect r="r" b="b" t="t" l="l"/>
            <a:pathLst>
              <a:path h="18259639" w="18259639">
                <a:moveTo>
                  <a:pt x="18259639" y="18259638"/>
                </a:moveTo>
                <a:lnTo>
                  <a:pt x="0" y="18259638"/>
                </a:lnTo>
                <a:lnTo>
                  <a:pt x="0" y="0"/>
                </a:lnTo>
                <a:lnTo>
                  <a:pt x="18259639" y="0"/>
                </a:lnTo>
                <a:lnTo>
                  <a:pt x="18259639" y="1825963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7334" y="5789605"/>
            <a:ext cx="4952068" cy="3912134"/>
          </a:xfrm>
          <a:custGeom>
            <a:avLst/>
            <a:gdLst/>
            <a:ahLst/>
            <a:cxnLst/>
            <a:rect r="r" b="b" t="t" l="l"/>
            <a:pathLst>
              <a:path h="3912134" w="4952068">
                <a:moveTo>
                  <a:pt x="0" y="0"/>
                </a:moveTo>
                <a:lnTo>
                  <a:pt x="4952068" y="0"/>
                </a:lnTo>
                <a:lnTo>
                  <a:pt x="4952068" y="3912134"/>
                </a:lnTo>
                <a:lnTo>
                  <a:pt x="0" y="3912134"/>
                </a:lnTo>
                <a:lnTo>
                  <a:pt x="0" y="0"/>
                </a:lnTo>
                <a:close/>
              </a:path>
            </a:pathLst>
          </a:custGeom>
          <a:blipFill>
            <a:blip r:embed="rId4"/>
            <a:stretch>
              <a:fillRect l="0" t="0" r="0" b="0"/>
            </a:stretch>
          </a:blipFill>
        </p:spPr>
      </p:sp>
      <p:sp>
        <p:nvSpPr>
          <p:cNvPr name="Freeform 4" id="4"/>
          <p:cNvSpPr/>
          <p:nvPr/>
        </p:nvSpPr>
        <p:spPr>
          <a:xfrm flipH="false" flipV="false" rot="0">
            <a:off x="15242736" y="6584218"/>
            <a:ext cx="4033128" cy="3912134"/>
          </a:xfrm>
          <a:custGeom>
            <a:avLst/>
            <a:gdLst/>
            <a:ahLst/>
            <a:cxnLst/>
            <a:rect r="r" b="b" t="t" l="l"/>
            <a:pathLst>
              <a:path h="3912134" w="4033128">
                <a:moveTo>
                  <a:pt x="0" y="0"/>
                </a:moveTo>
                <a:lnTo>
                  <a:pt x="4033128" y="0"/>
                </a:lnTo>
                <a:lnTo>
                  <a:pt x="4033128" y="3912134"/>
                </a:lnTo>
                <a:lnTo>
                  <a:pt x="0" y="3912134"/>
                </a:lnTo>
                <a:lnTo>
                  <a:pt x="0" y="0"/>
                </a:lnTo>
                <a:close/>
              </a:path>
            </a:pathLst>
          </a:custGeom>
          <a:blipFill>
            <a:blip r:embed="rId5"/>
            <a:stretch>
              <a:fillRect l="0" t="0" r="0" b="0"/>
            </a:stretch>
          </a:blipFill>
        </p:spPr>
      </p:sp>
      <p:sp>
        <p:nvSpPr>
          <p:cNvPr name="TextBox 5" id="5"/>
          <p:cNvSpPr txBox="true"/>
          <p:nvPr/>
        </p:nvSpPr>
        <p:spPr>
          <a:xfrm rot="0">
            <a:off x="2507491" y="1894408"/>
            <a:ext cx="15041564" cy="6383087"/>
          </a:xfrm>
          <a:prstGeom prst="rect">
            <a:avLst/>
          </a:prstGeom>
        </p:spPr>
        <p:txBody>
          <a:bodyPr anchor="t" rtlCol="false" tIns="0" lIns="0" bIns="0" rIns="0">
            <a:spAutoFit/>
          </a:bodyPr>
          <a:lstStyle/>
          <a:p>
            <a:pPr algn="l" marL="923248" indent="-461624" lvl="1">
              <a:lnSpc>
                <a:spcPts val="5046"/>
              </a:lnSpc>
              <a:buFont typeface="Arial"/>
              <a:buChar char="•"/>
            </a:pPr>
            <a:r>
              <a:rPr lang="en-US" sz="4276">
                <a:solidFill>
                  <a:srgbClr val="000000"/>
                </a:solidFill>
                <a:latin typeface="Neue Einstellung"/>
                <a:ea typeface="Neue Einstellung"/>
                <a:cs typeface="Neue Einstellung"/>
                <a:sym typeface="Neue Einstellung"/>
              </a:rPr>
              <a:t>Cuidado de mascotas por tiempo prolongado </a:t>
            </a:r>
          </a:p>
          <a:p>
            <a:pPr algn="l" marL="923248" indent="-461624" lvl="1">
              <a:lnSpc>
                <a:spcPts val="5046"/>
              </a:lnSpc>
              <a:buFont typeface="Arial"/>
              <a:buChar char="•"/>
            </a:pPr>
            <a:r>
              <a:rPr lang="en-US" sz="4276">
                <a:solidFill>
                  <a:srgbClr val="000000"/>
                </a:solidFill>
                <a:latin typeface="Neue Einstellung"/>
                <a:ea typeface="Neue Einstellung"/>
                <a:cs typeface="Neue Einstellung"/>
                <a:sym typeface="Neue Einstellung"/>
              </a:rPr>
              <a:t>Reseñas</a:t>
            </a:r>
          </a:p>
          <a:p>
            <a:pPr algn="l" marL="923248" indent="-461624" lvl="1">
              <a:lnSpc>
                <a:spcPts val="5046"/>
              </a:lnSpc>
              <a:buFont typeface="Arial"/>
              <a:buChar char="•"/>
            </a:pPr>
            <a:r>
              <a:rPr lang="en-US" sz="4276">
                <a:solidFill>
                  <a:srgbClr val="000000"/>
                </a:solidFill>
                <a:latin typeface="Neue Einstellung"/>
                <a:ea typeface="Neue Einstellung"/>
                <a:cs typeface="Neue Einstellung"/>
                <a:sym typeface="Neue Einstellung"/>
              </a:rPr>
              <a:t>Seguro de Mascota</a:t>
            </a:r>
          </a:p>
          <a:p>
            <a:pPr algn="l" marL="923248" indent="-461624" lvl="1">
              <a:lnSpc>
                <a:spcPts val="5046"/>
              </a:lnSpc>
              <a:buFont typeface="Arial"/>
              <a:buChar char="•"/>
            </a:pPr>
            <a:r>
              <a:rPr lang="en-US" sz="4276">
                <a:solidFill>
                  <a:srgbClr val="000000"/>
                </a:solidFill>
                <a:latin typeface="Neue Einstellung"/>
                <a:ea typeface="Neue Einstellung"/>
                <a:cs typeface="Neue Einstellung"/>
                <a:sym typeface="Neue Einstellung"/>
              </a:rPr>
              <a:t>Chat entre dueño y paseador </a:t>
            </a:r>
          </a:p>
          <a:p>
            <a:pPr algn="l" marL="923248" indent="-461624" lvl="1">
              <a:lnSpc>
                <a:spcPts val="5046"/>
              </a:lnSpc>
              <a:buFont typeface="Arial"/>
              <a:buChar char="•"/>
            </a:pPr>
            <a:r>
              <a:rPr lang="en-US" sz="4276">
                <a:solidFill>
                  <a:srgbClr val="000000"/>
                </a:solidFill>
                <a:latin typeface="Neue Einstellung"/>
                <a:ea typeface="Neue Einstellung"/>
                <a:cs typeface="Neue Einstellung"/>
                <a:sym typeface="Neue Einstellung"/>
              </a:rPr>
              <a:t>Mejoras en la Geolocalización (Durante el paseo)</a:t>
            </a:r>
          </a:p>
          <a:p>
            <a:pPr algn="l" marL="923248" indent="-461624" lvl="1">
              <a:lnSpc>
                <a:spcPts val="5046"/>
              </a:lnSpc>
              <a:buFont typeface="Arial"/>
              <a:buChar char="•"/>
            </a:pPr>
            <a:r>
              <a:rPr lang="en-US" sz="4276">
                <a:solidFill>
                  <a:srgbClr val="000000"/>
                </a:solidFill>
                <a:latin typeface="Neue Einstellung"/>
                <a:ea typeface="Neue Einstellung"/>
                <a:cs typeface="Neue Einstellung"/>
                <a:sym typeface="Neue Einstellung"/>
              </a:rPr>
              <a:t>Agregar mas servicios.</a:t>
            </a:r>
          </a:p>
          <a:p>
            <a:pPr algn="l" marL="923248" indent="-461624" lvl="1">
              <a:lnSpc>
                <a:spcPts val="5046"/>
              </a:lnSpc>
              <a:buFont typeface="Arial"/>
              <a:buChar char="•"/>
            </a:pPr>
            <a:r>
              <a:rPr lang="en-US" sz="4276">
                <a:solidFill>
                  <a:srgbClr val="000000"/>
                </a:solidFill>
                <a:latin typeface="Neue Einstellung"/>
                <a:ea typeface="Neue Einstellung"/>
                <a:cs typeface="Neue Einstellung"/>
                <a:sym typeface="Neue Einstellung"/>
              </a:rPr>
              <a:t>Perímetro Seguro </a:t>
            </a:r>
          </a:p>
          <a:p>
            <a:pPr algn="l" marL="923248" indent="-461624" lvl="1">
              <a:lnSpc>
                <a:spcPts val="5046"/>
              </a:lnSpc>
              <a:buFont typeface="Arial"/>
              <a:buChar char="•"/>
            </a:pPr>
            <a:r>
              <a:rPr lang="en-US" sz="4276">
                <a:solidFill>
                  <a:srgbClr val="000000"/>
                </a:solidFill>
                <a:latin typeface="Neue Einstellung"/>
                <a:ea typeface="Neue Einstellung"/>
                <a:cs typeface="Neue Einstellung"/>
                <a:sym typeface="Neue Einstellung"/>
              </a:rPr>
              <a:t>Reconocimiento Facial para iniciar servicios </a:t>
            </a:r>
          </a:p>
          <a:p>
            <a:pPr algn="l">
              <a:lnSpc>
                <a:spcPts val="5046"/>
              </a:lnSpc>
            </a:pPr>
          </a:p>
          <a:p>
            <a:pPr algn="l">
              <a:lnSpc>
                <a:spcPts val="5046"/>
              </a:lnSpc>
            </a:pPr>
          </a:p>
        </p:txBody>
      </p:sp>
      <p:sp>
        <p:nvSpPr>
          <p:cNvPr name="TextBox 6" id="6"/>
          <p:cNvSpPr txBox="true"/>
          <p:nvPr/>
        </p:nvSpPr>
        <p:spPr>
          <a:xfrm rot="0">
            <a:off x="2160510" y="433157"/>
            <a:ext cx="13428492" cy="924385"/>
          </a:xfrm>
          <a:prstGeom prst="rect">
            <a:avLst/>
          </a:prstGeom>
        </p:spPr>
        <p:txBody>
          <a:bodyPr anchor="t" rtlCol="false" tIns="0" lIns="0" bIns="0" rIns="0">
            <a:spAutoFit/>
          </a:bodyPr>
          <a:lstStyle/>
          <a:p>
            <a:pPr algn="ctr" marL="0" indent="0" lvl="0">
              <a:lnSpc>
                <a:spcPts val="8062"/>
              </a:lnSpc>
              <a:spcBef>
                <a:spcPct val="0"/>
              </a:spcBef>
            </a:pPr>
            <a:r>
              <a:rPr lang="en-US" sz="4358">
                <a:solidFill>
                  <a:srgbClr val="FFEDD4"/>
                </a:solidFill>
                <a:latin typeface="TAN Songbird"/>
                <a:ea typeface="TAN Songbird"/>
                <a:cs typeface="TAN Songbird"/>
                <a:sym typeface="TAN Songbird"/>
              </a:rPr>
              <a:t>Mejoras Futuras de la App</a:t>
            </a:r>
          </a:p>
        </p:txBody>
      </p:sp>
      <p:sp>
        <p:nvSpPr>
          <p:cNvPr name="Freeform 7" id="7"/>
          <p:cNvSpPr/>
          <p:nvPr/>
        </p:nvSpPr>
        <p:spPr>
          <a:xfrm flipH="false" flipV="false" rot="4426995">
            <a:off x="15412277" y="283723"/>
            <a:ext cx="1514566" cy="1489955"/>
          </a:xfrm>
          <a:custGeom>
            <a:avLst/>
            <a:gdLst/>
            <a:ahLst/>
            <a:cxnLst/>
            <a:rect r="r" b="b" t="t" l="l"/>
            <a:pathLst>
              <a:path h="1489955" w="1514566">
                <a:moveTo>
                  <a:pt x="0" y="0"/>
                </a:moveTo>
                <a:lnTo>
                  <a:pt x="1514566" y="0"/>
                </a:lnTo>
                <a:lnTo>
                  <a:pt x="1514566" y="1489954"/>
                </a:lnTo>
                <a:lnTo>
                  <a:pt x="0" y="1489954"/>
                </a:lnTo>
                <a:lnTo>
                  <a:pt x="0" y="0"/>
                </a:lnTo>
                <a:close/>
              </a:path>
            </a:pathLst>
          </a:custGeom>
          <a:blipFill>
            <a:blip r:embed="rId6"/>
            <a:stretch>
              <a:fillRect l="0" t="0" r="0" b="0"/>
            </a:stretch>
          </a:blipFill>
        </p:spPr>
      </p:sp>
      <p:sp>
        <p:nvSpPr>
          <p:cNvPr name="Freeform 8" id="8"/>
          <p:cNvSpPr/>
          <p:nvPr/>
        </p:nvSpPr>
        <p:spPr>
          <a:xfrm flipH="false" flipV="false" rot="4426995">
            <a:off x="656867" y="283723"/>
            <a:ext cx="1514566" cy="1489955"/>
          </a:xfrm>
          <a:custGeom>
            <a:avLst/>
            <a:gdLst/>
            <a:ahLst/>
            <a:cxnLst/>
            <a:rect r="r" b="b" t="t" l="l"/>
            <a:pathLst>
              <a:path h="1489955" w="1514566">
                <a:moveTo>
                  <a:pt x="0" y="0"/>
                </a:moveTo>
                <a:lnTo>
                  <a:pt x="1514566" y="0"/>
                </a:lnTo>
                <a:lnTo>
                  <a:pt x="1514566" y="1489954"/>
                </a:lnTo>
                <a:lnTo>
                  <a:pt x="0" y="1489954"/>
                </a:lnTo>
                <a:lnTo>
                  <a:pt x="0" y="0"/>
                </a:lnTo>
                <a:close/>
              </a:path>
            </a:pathLst>
          </a:custGeom>
          <a:blipFill>
            <a:blip r:embed="rId6"/>
            <a:stretch>
              <a:fillRect l="0" t="0" r="0" b="0"/>
            </a:stretch>
          </a:blipFill>
        </p:spPr>
      </p:sp>
      <p:sp>
        <p:nvSpPr>
          <p:cNvPr name="Freeform 9" id="9"/>
          <p:cNvSpPr/>
          <p:nvPr/>
        </p:nvSpPr>
        <p:spPr>
          <a:xfrm flipH="false" flipV="false" rot="0">
            <a:off x="4622680" y="8804834"/>
            <a:ext cx="1798482" cy="1184750"/>
          </a:xfrm>
          <a:custGeom>
            <a:avLst/>
            <a:gdLst/>
            <a:ahLst/>
            <a:cxnLst/>
            <a:rect r="r" b="b" t="t" l="l"/>
            <a:pathLst>
              <a:path h="1184750" w="1798482">
                <a:moveTo>
                  <a:pt x="0" y="0"/>
                </a:moveTo>
                <a:lnTo>
                  <a:pt x="1798482" y="0"/>
                </a:lnTo>
                <a:lnTo>
                  <a:pt x="1798482" y="1184750"/>
                </a:lnTo>
                <a:lnTo>
                  <a:pt x="0" y="1184750"/>
                </a:lnTo>
                <a:lnTo>
                  <a:pt x="0" y="0"/>
                </a:lnTo>
                <a:close/>
              </a:path>
            </a:pathLst>
          </a:custGeom>
          <a:blipFill>
            <a:blip r:embed="rId7"/>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4838" r="0" b="-42938"/>
            </a:stretch>
          </a:blipFill>
        </p:spPr>
      </p:sp>
      <p:sp>
        <p:nvSpPr>
          <p:cNvPr name="Freeform 3" id="3"/>
          <p:cNvSpPr/>
          <p:nvPr/>
        </p:nvSpPr>
        <p:spPr>
          <a:xfrm flipH="false" flipV="false" rot="2700000">
            <a:off x="14181" y="-5539398"/>
            <a:ext cx="18259639" cy="18259639"/>
          </a:xfrm>
          <a:custGeom>
            <a:avLst/>
            <a:gdLst/>
            <a:ahLst/>
            <a:cxnLst/>
            <a:rect r="r" b="b" t="t" l="l"/>
            <a:pathLst>
              <a:path h="18259639" w="18259639">
                <a:moveTo>
                  <a:pt x="0" y="0"/>
                </a:moveTo>
                <a:lnTo>
                  <a:pt x="18259638" y="0"/>
                </a:lnTo>
                <a:lnTo>
                  <a:pt x="18259638" y="18259638"/>
                </a:lnTo>
                <a:lnTo>
                  <a:pt x="0" y="182596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182412" y="4499622"/>
            <a:ext cx="2725425" cy="4758678"/>
          </a:xfrm>
          <a:custGeom>
            <a:avLst/>
            <a:gdLst/>
            <a:ahLst/>
            <a:cxnLst/>
            <a:rect r="r" b="b" t="t" l="l"/>
            <a:pathLst>
              <a:path h="4758678" w="2725425">
                <a:moveTo>
                  <a:pt x="0" y="0"/>
                </a:moveTo>
                <a:lnTo>
                  <a:pt x="2725425" y="0"/>
                </a:lnTo>
                <a:lnTo>
                  <a:pt x="2725425" y="4758678"/>
                </a:lnTo>
                <a:lnTo>
                  <a:pt x="0" y="47586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268004">
            <a:off x="974267" y="774974"/>
            <a:ext cx="4719281" cy="3734131"/>
          </a:xfrm>
          <a:custGeom>
            <a:avLst/>
            <a:gdLst/>
            <a:ahLst/>
            <a:cxnLst/>
            <a:rect r="r" b="b" t="t" l="l"/>
            <a:pathLst>
              <a:path h="3734131" w="4719281">
                <a:moveTo>
                  <a:pt x="4719281" y="0"/>
                </a:moveTo>
                <a:lnTo>
                  <a:pt x="0" y="0"/>
                </a:lnTo>
                <a:lnTo>
                  <a:pt x="0" y="3734131"/>
                </a:lnTo>
                <a:lnTo>
                  <a:pt x="4719281" y="3734131"/>
                </a:lnTo>
                <a:lnTo>
                  <a:pt x="4719281" y="0"/>
                </a:lnTo>
                <a:close/>
              </a:path>
            </a:pathLst>
          </a:custGeom>
          <a:blipFill>
            <a:blip r:embed="rId7"/>
            <a:stretch>
              <a:fillRect l="0" t="0" r="0" b="0"/>
            </a:stretch>
          </a:blipFill>
        </p:spPr>
      </p:sp>
      <p:sp>
        <p:nvSpPr>
          <p:cNvPr name="Freeform 6" id="6"/>
          <p:cNvSpPr/>
          <p:nvPr/>
        </p:nvSpPr>
        <p:spPr>
          <a:xfrm flipH="false" flipV="false" rot="0">
            <a:off x="6459161" y="2642040"/>
            <a:ext cx="2433141" cy="1602832"/>
          </a:xfrm>
          <a:custGeom>
            <a:avLst/>
            <a:gdLst/>
            <a:ahLst/>
            <a:cxnLst/>
            <a:rect r="r" b="b" t="t" l="l"/>
            <a:pathLst>
              <a:path h="1602832" w="2433141">
                <a:moveTo>
                  <a:pt x="0" y="0"/>
                </a:moveTo>
                <a:lnTo>
                  <a:pt x="2433141" y="0"/>
                </a:lnTo>
                <a:lnTo>
                  <a:pt x="2433141" y="1602831"/>
                </a:lnTo>
                <a:lnTo>
                  <a:pt x="0" y="1602831"/>
                </a:lnTo>
                <a:lnTo>
                  <a:pt x="0" y="0"/>
                </a:lnTo>
                <a:close/>
              </a:path>
            </a:pathLst>
          </a:custGeom>
          <a:blipFill>
            <a:blip r:embed="rId8"/>
            <a:stretch>
              <a:fillRect l="0" t="0" r="0" b="0"/>
            </a:stretch>
          </a:blipFill>
        </p:spPr>
      </p:sp>
      <p:sp>
        <p:nvSpPr>
          <p:cNvPr name="Freeform 7" id="7"/>
          <p:cNvSpPr/>
          <p:nvPr/>
        </p:nvSpPr>
        <p:spPr>
          <a:xfrm flipH="true" flipV="false" rot="0">
            <a:off x="11984800" y="355672"/>
            <a:ext cx="4923037" cy="3889199"/>
          </a:xfrm>
          <a:custGeom>
            <a:avLst/>
            <a:gdLst/>
            <a:ahLst/>
            <a:cxnLst/>
            <a:rect r="r" b="b" t="t" l="l"/>
            <a:pathLst>
              <a:path h="3889199" w="4923037">
                <a:moveTo>
                  <a:pt x="4923037" y="0"/>
                </a:moveTo>
                <a:lnTo>
                  <a:pt x="0" y="0"/>
                </a:lnTo>
                <a:lnTo>
                  <a:pt x="0" y="3889199"/>
                </a:lnTo>
                <a:lnTo>
                  <a:pt x="4923037" y="3889199"/>
                </a:lnTo>
                <a:lnTo>
                  <a:pt x="4923037" y="0"/>
                </a:lnTo>
                <a:close/>
              </a:path>
            </a:pathLst>
          </a:custGeom>
          <a:blipFill>
            <a:blip r:embed="rId9"/>
            <a:stretch>
              <a:fillRect l="0" t="0" r="0" b="0"/>
            </a:stretch>
          </a:blipFill>
        </p:spPr>
      </p:sp>
      <p:sp>
        <p:nvSpPr>
          <p:cNvPr name="TextBox 8" id="8"/>
          <p:cNvSpPr txBox="true"/>
          <p:nvPr/>
        </p:nvSpPr>
        <p:spPr>
          <a:xfrm rot="162197">
            <a:off x="3182432" y="5081232"/>
            <a:ext cx="10388356" cy="1905433"/>
          </a:xfrm>
          <a:prstGeom prst="rect">
            <a:avLst/>
          </a:prstGeom>
        </p:spPr>
        <p:txBody>
          <a:bodyPr anchor="t" rtlCol="false" tIns="0" lIns="0" bIns="0" rIns="0">
            <a:spAutoFit/>
          </a:bodyPr>
          <a:lstStyle/>
          <a:p>
            <a:pPr algn="ctr">
              <a:lnSpc>
                <a:spcPts val="10317"/>
              </a:lnSpc>
            </a:pPr>
            <a:r>
              <a:rPr lang="en-US" sz="7369">
                <a:solidFill>
                  <a:srgbClr val="FFEDD4"/>
                </a:solidFill>
                <a:latin typeface="TAN Songbird"/>
                <a:ea typeface="TAN Songbird"/>
                <a:cs typeface="TAN Songbird"/>
                <a:sym typeface="TAN Songbird"/>
              </a:rPr>
              <a:t>¡Gracias por</a:t>
            </a:r>
          </a:p>
        </p:txBody>
      </p:sp>
      <p:sp>
        <p:nvSpPr>
          <p:cNvPr name="TextBox 9" id="9"/>
          <p:cNvSpPr txBox="true"/>
          <p:nvPr/>
        </p:nvSpPr>
        <p:spPr>
          <a:xfrm rot="225059">
            <a:off x="3359302" y="6584996"/>
            <a:ext cx="10089098" cy="2001863"/>
          </a:xfrm>
          <a:prstGeom prst="rect">
            <a:avLst/>
          </a:prstGeom>
        </p:spPr>
        <p:txBody>
          <a:bodyPr anchor="t" rtlCol="false" tIns="0" lIns="0" bIns="0" rIns="0">
            <a:spAutoFit/>
          </a:bodyPr>
          <a:lstStyle/>
          <a:p>
            <a:pPr algn="ctr" marL="0" indent="0" lvl="0">
              <a:lnSpc>
                <a:spcPts val="10317"/>
              </a:lnSpc>
              <a:spcBef>
                <a:spcPct val="0"/>
              </a:spcBef>
            </a:pPr>
            <a:r>
              <a:rPr lang="en-US" sz="7369">
                <a:solidFill>
                  <a:srgbClr val="B1D357"/>
                </a:solidFill>
                <a:latin typeface="TAN Songbird"/>
                <a:ea typeface="TAN Songbird"/>
                <a:cs typeface="TAN Songbird"/>
                <a:sym typeface="TAN Songbird"/>
              </a:rPr>
              <a:t>su atención!</a:t>
            </a:r>
          </a:p>
        </p:txBody>
      </p:sp>
    </p:spTree>
  </p:cSld>
  <p:clrMapOvr>
    <a:masterClrMapping/>
  </p:clrMapOvr>
  <p:transition spd="fast">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DAG49nrFCXU</dc:identifier>
  <dcterms:modified xsi:type="dcterms:W3CDTF">2011-08-01T06:04:30Z</dcterms:modified>
  <cp:revision>1</cp:revision>
  <dc:title>Presentación Final Portafolio Titulo</dc:title>
</cp:coreProperties>
</file>